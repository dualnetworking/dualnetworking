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Commits</c:v>
                </c:pt>
              </c:strCache>
            </c:strRef>
          </c:tx>
          <c:spPr>
            <a:solidFill>
              <a:srgbClr val="C5394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2A2D34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Max</c:v>
                </c:pt>
                <c:pt idx="1">
                  <c:v>Johannes</c:v>
                </c:pt>
                <c:pt idx="2">
                  <c:v>Sebastiano</c:v>
                </c:pt>
                <c:pt idx="3">
                  <c:v>Ali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</c:v>
                </c:pt>
                <c:pt idx="1">
                  <c:v>13</c:v>
                </c:pt>
                <c:pt idx="2">
                  <c:v>5</c:v>
                </c:pt>
                <c:pt idx="3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A9-4568-981A-13A632B62F3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2D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7E5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367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FE2B1-7DD4-484D-B491-7F5E59DD1992}" type="datetimeFigureOut">
              <a:t>17.06.2026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D26DEE-4C85-4866-B375-68EE82F4C28C}" type="slidenum"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28576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Umfang</a:t>
            </a:r>
            <a:r>
              <a:rPr lang="en-US" dirty="0"/>
              <a:t>: </a:t>
            </a:r>
            <a:endParaRPr lang="de-DE" dirty="0"/>
          </a:p>
          <a:p>
            <a:r>
              <a:rPr lang="en-US" dirty="0"/>
              <a:t>o </a:t>
            </a:r>
            <a:r>
              <a:rPr lang="en-US" dirty="0" err="1"/>
              <a:t>Projektziel</a:t>
            </a:r>
            <a:r>
              <a:rPr lang="en-US" dirty="0"/>
              <a:t>/Vision </a:t>
            </a:r>
            <a:endParaRPr lang="de-DE" dirty="0" err="1"/>
          </a:p>
          <a:p>
            <a:r>
              <a:rPr lang="en-US" dirty="0"/>
              <a:t>o </a:t>
            </a:r>
            <a:r>
              <a:rPr lang="en-US" dirty="0" err="1"/>
              <a:t>Architekturentscheidungen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Begründungen</a:t>
            </a:r>
            <a:r>
              <a:rPr lang="en-US" dirty="0"/>
              <a:t> </a:t>
            </a:r>
            <a:endParaRPr lang="de-DE"/>
          </a:p>
          <a:p>
            <a:r>
              <a:rPr lang="en-US" dirty="0"/>
              <a:t>o </a:t>
            </a:r>
            <a:r>
              <a:rPr lang="en-US" dirty="0" err="1"/>
              <a:t>Angewandte</a:t>
            </a:r>
            <a:r>
              <a:rPr lang="en-US" dirty="0"/>
              <a:t> </a:t>
            </a:r>
            <a:r>
              <a:rPr lang="en-US" dirty="0" err="1"/>
              <a:t>Entwicklungsmuster</a:t>
            </a:r>
            <a:r>
              <a:rPr lang="en-US" dirty="0"/>
              <a:t> (design patterns) und/</a:t>
            </a:r>
            <a:r>
              <a:rPr lang="en-US" dirty="0" err="1"/>
              <a:t>oder</a:t>
            </a:r>
            <a:r>
              <a:rPr lang="en-US" dirty="0"/>
              <a:t> </a:t>
            </a:r>
            <a:r>
              <a:rPr lang="en-US" dirty="0" err="1"/>
              <a:t>Entwicklungsplattformen</a:t>
            </a:r>
            <a:r>
              <a:rPr lang="en-US" dirty="0"/>
              <a:t>, </a:t>
            </a:r>
            <a:r>
              <a:rPr lang="en-US" dirty="0" err="1"/>
              <a:t>Bibliotheken</a:t>
            </a:r>
            <a:r>
              <a:rPr lang="en-US" dirty="0"/>
              <a:t> -&gt; </a:t>
            </a:r>
            <a:r>
              <a:rPr lang="en-US" dirty="0" err="1"/>
              <a:t>Zusammenfassung</a:t>
            </a:r>
            <a:r>
              <a:rPr lang="en-US" dirty="0"/>
              <a:t> </a:t>
            </a:r>
            <a:r>
              <a:rPr lang="en-US" dirty="0" err="1"/>
              <a:t>Ihres</a:t>
            </a:r>
            <a:r>
              <a:rPr lang="en-US" dirty="0"/>
              <a:t> </a:t>
            </a:r>
            <a:r>
              <a:rPr lang="en-US" dirty="0" err="1"/>
              <a:t>TechStacks</a:t>
            </a:r>
            <a:r>
              <a:rPr lang="en-US" dirty="0"/>
              <a:t> </a:t>
            </a:r>
            <a:endParaRPr lang="de-DE"/>
          </a:p>
          <a:p>
            <a:r>
              <a:rPr lang="en-US"/>
              <a:t>o Qualitätssicherung, z.B. Testabdeckung </a:t>
            </a:r>
            <a:endParaRPr lang="de-DE"/>
          </a:p>
          <a:p>
            <a:r>
              <a:rPr lang="en-US" dirty="0"/>
              <a:t>o CI/CD Setup o Live-Demo </a:t>
            </a:r>
            <a:endParaRPr lang="de-DE" dirty="0"/>
          </a:p>
          <a:p>
            <a:r>
              <a:rPr lang="en-US" dirty="0"/>
              <a:t>o </a:t>
            </a:r>
            <a:r>
              <a:rPr lang="en-US" dirty="0" err="1"/>
              <a:t>Fakten</a:t>
            </a:r>
            <a:r>
              <a:rPr lang="en-US" dirty="0"/>
              <a:t> und </a:t>
            </a:r>
            <a:r>
              <a:rPr lang="en-US" dirty="0" err="1"/>
              <a:t>gewonnene</a:t>
            </a:r>
            <a:r>
              <a:rPr lang="en-US" dirty="0"/>
              <a:t> </a:t>
            </a:r>
            <a:r>
              <a:rPr lang="en-US" dirty="0" err="1"/>
              <a:t>Erkenntnisse</a:t>
            </a:r>
            <a:r>
              <a:rPr lang="en-US" dirty="0"/>
              <a:t> </a:t>
            </a:r>
            <a:r>
              <a:rPr lang="en-US" dirty="0" err="1"/>
              <a:t>zum</a:t>
            </a:r>
            <a:r>
              <a:rPr lang="en-US" dirty="0"/>
              <a:t> </a:t>
            </a:r>
            <a:r>
              <a:rPr lang="en-US" dirty="0" err="1"/>
              <a:t>Projektmanagement</a:t>
            </a:r>
            <a:endParaRPr lang="de-DE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Fakten</a:t>
            </a:r>
            <a:r>
              <a:rPr lang="en-US" dirty="0"/>
              <a:t> und </a:t>
            </a:r>
            <a:r>
              <a:rPr lang="en-US" dirty="0" err="1"/>
              <a:t>gewonnene</a:t>
            </a:r>
            <a:r>
              <a:rPr lang="en-US" dirty="0"/>
              <a:t> </a:t>
            </a:r>
            <a:r>
              <a:rPr lang="en-US" dirty="0" err="1"/>
              <a:t>Erkenntnisse</a:t>
            </a:r>
            <a:r>
              <a:rPr lang="en-US" dirty="0"/>
              <a:t> </a:t>
            </a:r>
            <a:r>
              <a:rPr lang="en-US" dirty="0" err="1"/>
              <a:t>zum</a:t>
            </a:r>
            <a:r>
              <a:rPr lang="en-US" dirty="0"/>
              <a:t> </a:t>
            </a:r>
            <a:r>
              <a:rPr lang="en-US" dirty="0" err="1"/>
              <a:t>Projektmanagement</a:t>
            </a:r>
            <a:endParaRPr lang="de-DE" dirty="0" err="1">
              <a:ea typeface="Calibri" panose="020F0502020204030204"/>
              <a:cs typeface="Calibri" panose="020F0502020204030204"/>
            </a:endParaRP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8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4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0"/>
            <a:ext cx="3867912" cy="6858000"/>
          </a:xfrm>
          <a:prstGeom prst="rect">
            <a:avLst/>
          </a:prstGeom>
          <a:solidFill>
            <a:srgbClr val="F8EAEC"/>
          </a:solidFill>
          <a:ln/>
        </p:spPr>
      </p:sp>
      <p:sp>
        <p:nvSpPr>
          <p:cNvPr id="3" name="Shape 1"/>
          <p:cNvSpPr/>
          <p:nvPr/>
        </p:nvSpPr>
        <p:spPr>
          <a:xfrm>
            <a:off x="8321040" y="0"/>
            <a:ext cx="73152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Shape 2"/>
          <p:cNvSpPr/>
          <p:nvPr/>
        </p:nvSpPr>
        <p:spPr>
          <a:xfrm>
            <a:off x="8951976" y="2231136"/>
            <a:ext cx="1028700" cy="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51976" y="2231136"/>
            <a:ext cx="1143000" cy="74295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80676" y="1545336"/>
            <a:ext cx="1200150" cy="62865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94976" y="2974086"/>
            <a:ext cx="1085850" cy="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94976" y="2974086"/>
            <a:ext cx="800100" cy="51435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80826" y="2173986"/>
            <a:ext cx="857250" cy="68580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95076" y="3488436"/>
            <a:ext cx="1143000" cy="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69680" y="2148840"/>
            <a:ext cx="237744" cy="237744"/>
          </a:xfrm>
          <a:prstGeom prst="ellipse">
            <a:avLst/>
          </a:prstGeom>
          <a:solidFill>
            <a:srgbClr val="C5394A"/>
          </a:solidFill>
          <a:ln/>
        </p:spPr>
      </p:sp>
      <p:sp>
        <p:nvSpPr>
          <p:cNvPr id="12" name="Shape 10"/>
          <p:cNvSpPr/>
          <p:nvPr/>
        </p:nvSpPr>
        <p:spPr>
          <a:xfrm>
            <a:off x="9898380" y="1463040"/>
            <a:ext cx="182880" cy="182880"/>
          </a:xfrm>
          <a:prstGeom prst="ellipse">
            <a:avLst/>
          </a:prstGeom>
          <a:solidFill>
            <a:srgbClr val="C539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12680" y="2891790"/>
            <a:ext cx="201168" cy="201168"/>
          </a:xfrm>
          <a:prstGeom prst="ellipse">
            <a:avLst/>
          </a:prstGeom>
          <a:solidFill>
            <a:srgbClr val="C539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1098530" y="2091690"/>
            <a:ext cx="274320" cy="274320"/>
          </a:xfrm>
          <a:prstGeom prst="ellipse">
            <a:avLst/>
          </a:prstGeom>
          <a:solidFill>
            <a:srgbClr val="C539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12780" y="3406140"/>
            <a:ext cx="164592" cy="164592"/>
          </a:xfrm>
          <a:prstGeom prst="ellipse">
            <a:avLst/>
          </a:prstGeom>
          <a:solidFill>
            <a:srgbClr val="C539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1955780" y="2777490"/>
            <a:ext cx="219456" cy="219456"/>
          </a:xfrm>
          <a:prstGeom prst="ellipse">
            <a:avLst/>
          </a:prstGeom>
          <a:solidFill>
            <a:srgbClr val="C5394A"/>
          </a:solidFill>
          <a:ln/>
        </p:spPr>
      </p:sp>
      <p:sp>
        <p:nvSpPr>
          <p:cNvPr id="17" name="Shape 15"/>
          <p:cNvSpPr/>
          <p:nvPr/>
        </p:nvSpPr>
        <p:spPr>
          <a:xfrm>
            <a:off x="9317736" y="4626864"/>
            <a:ext cx="781812" cy="0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4626864"/>
            <a:ext cx="868680" cy="564642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99548" y="4105656"/>
            <a:ext cx="912114" cy="477774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86416" y="5191506"/>
            <a:ext cx="825246" cy="0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186416" y="5191506"/>
            <a:ext cx="608076" cy="390906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011662" y="4583430"/>
            <a:ext cx="651510" cy="521208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94492" y="5582412"/>
            <a:ext cx="868680" cy="0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35440" y="4544568"/>
            <a:ext cx="237744" cy="237744"/>
          </a:xfrm>
          <a:prstGeom prst="ellipse">
            <a:avLst/>
          </a:prstGeom>
          <a:solidFill>
            <a:srgbClr val="3E4856"/>
          </a:solidFill>
          <a:ln/>
        </p:spPr>
      </p:sp>
      <p:sp>
        <p:nvSpPr>
          <p:cNvPr id="25" name="Shape 23"/>
          <p:cNvSpPr/>
          <p:nvPr/>
        </p:nvSpPr>
        <p:spPr>
          <a:xfrm>
            <a:off x="10017252" y="4023360"/>
            <a:ext cx="182880" cy="182880"/>
          </a:xfrm>
          <a:prstGeom prst="ellipse">
            <a:avLst/>
          </a:prstGeom>
          <a:solidFill>
            <a:srgbClr val="3E4856"/>
          </a:solidFill>
          <a:ln/>
        </p:spPr>
      </p:sp>
      <p:sp>
        <p:nvSpPr>
          <p:cNvPr id="26" name="Shape 24"/>
          <p:cNvSpPr/>
          <p:nvPr/>
        </p:nvSpPr>
        <p:spPr>
          <a:xfrm>
            <a:off x="10104120" y="5109210"/>
            <a:ext cx="201168" cy="201168"/>
          </a:xfrm>
          <a:prstGeom prst="ellipse">
            <a:avLst/>
          </a:prstGeom>
          <a:solidFill>
            <a:srgbClr val="3E4856"/>
          </a:solidFill>
          <a:ln/>
        </p:spPr>
      </p:sp>
      <p:sp>
        <p:nvSpPr>
          <p:cNvPr id="27" name="Shape 25"/>
          <p:cNvSpPr/>
          <p:nvPr/>
        </p:nvSpPr>
        <p:spPr>
          <a:xfrm>
            <a:off x="10929366" y="4501134"/>
            <a:ext cx="274320" cy="274320"/>
          </a:xfrm>
          <a:prstGeom prst="ellipse">
            <a:avLst/>
          </a:prstGeom>
          <a:solidFill>
            <a:srgbClr val="3E4856"/>
          </a:solidFill>
          <a:ln/>
        </p:spPr>
      </p:sp>
      <p:sp>
        <p:nvSpPr>
          <p:cNvPr id="28" name="Shape 26"/>
          <p:cNvSpPr/>
          <p:nvPr/>
        </p:nvSpPr>
        <p:spPr>
          <a:xfrm>
            <a:off x="10712196" y="5500116"/>
            <a:ext cx="164592" cy="164592"/>
          </a:xfrm>
          <a:prstGeom prst="ellipse">
            <a:avLst/>
          </a:prstGeom>
          <a:solidFill>
            <a:srgbClr val="3E4856"/>
          </a:solidFill>
          <a:ln/>
        </p:spPr>
      </p:sp>
      <p:sp>
        <p:nvSpPr>
          <p:cNvPr id="29" name="Shape 27"/>
          <p:cNvSpPr/>
          <p:nvPr/>
        </p:nvSpPr>
        <p:spPr>
          <a:xfrm>
            <a:off x="11580876" y="5022342"/>
            <a:ext cx="219456" cy="219456"/>
          </a:xfrm>
          <a:prstGeom prst="ellipse">
            <a:avLst/>
          </a:prstGeom>
          <a:solidFill>
            <a:srgbClr val="3E4856"/>
          </a:solidFill>
          <a:ln/>
        </p:spPr>
      </p:sp>
      <p:sp>
        <p:nvSpPr>
          <p:cNvPr id="30" name="Text 28"/>
          <p:cNvSpPr/>
          <p:nvPr/>
        </p:nvSpPr>
        <p:spPr>
          <a:xfrm>
            <a:off x="8321040" y="5852160"/>
            <a:ext cx="3867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kern="0" spc="300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DUALNET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1417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ABSCHLUSSPRÄSENTATION · SOFTWARE ENGINEERING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" y="19202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DualNetworking</a:t>
            </a:r>
            <a:endParaRPr lang="en-US" sz="5800" dirty="0"/>
          </a:p>
        </p:txBody>
      </p:sp>
      <p:sp>
        <p:nvSpPr>
          <p:cNvPr id="34" name="Text 32"/>
          <p:cNvSpPr/>
          <p:nvPr/>
        </p:nvSpPr>
        <p:spPr>
          <a:xfrm>
            <a:off x="731520" y="3063240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eigenes soziales Netzwerk – vom ersten Konzept bis zur fertigen, automatisch getesteten Anwendung.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731520" y="4160520"/>
            <a:ext cx="457200" cy="4572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 </a:t>
            </a:r>
            <a:r>
              <a:rPr lang="en-US" sz="15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· Sebastiano · Ali · Johannes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31520" y="4709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Kurs:  </a:t>
            </a:r>
            <a:r>
              <a:rPr lang="en-US" sz="15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TINF24B4 · DHBW Karlsruhe · 2025/2026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Sie heute erwartet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5440680" cy="12984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691640"/>
            <a:ext cx="82296" cy="129844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2066544"/>
            <a:ext cx="548640" cy="54864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4" y="2198218"/>
            <a:ext cx="285293" cy="285293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600200" y="18562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600200" y="2112264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Idee &amp; Vision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600200" y="251460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ist DualNet und wofür?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309360" y="1691640"/>
            <a:ext cx="5440680" cy="12984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309360" y="1691640"/>
            <a:ext cx="82296" cy="129844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18" name="Shape 15"/>
          <p:cNvSpPr/>
          <p:nvPr/>
        </p:nvSpPr>
        <p:spPr>
          <a:xfrm>
            <a:off x="6629400" y="2066544"/>
            <a:ext cx="548640" cy="54864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1074" y="2198218"/>
            <a:ext cx="285293" cy="285293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360920" y="18562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7360920" y="2112264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 App in Aktion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7360920" y="251460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Funktionen &amp; Nutzung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48640" y="3191256"/>
            <a:ext cx="5440680" cy="12984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548640" y="3191256"/>
            <a:ext cx="82296" cy="129844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25" name="Shape 21"/>
          <p:cNvSpPr/>
          <p:nvPr/>
        </p:nvSpPr>
        <p:spPr>
          <a:xfrm>
            <a:off x="868680" y="3566160"/>
            <a:ext cx="548640" cy="54864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4" y="3697834"/>
            <a:ext cx="285293" cy="285293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600200" y="33558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1600200" y="361188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Architektur &amp; Technik</a:t>
            </a:r>
            <a:endParaRPr lang="en-US" sz="1700" dirty="0"/>
          </a:p>
        </p:txBody>
      </p:sp>
      <p:sp>
        <p:nvSpPr>
          <p:cNvPr id="29" name="Text 24"/>
          <p:cNvSpPr/>
          <p:nvPr/>
        </p:nvSpPr>
        <p:spPr>
          <a:xfrm>
            <a:off x="1600200" y="4014216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es aufgebaut ist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6309360" y="3191256"/>
            <a:ext cx="5440680" cy="12984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309360" y="3191256"/>
            <a:ext cx="82296" cy="129844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32" name="Shape 27"/>
          <p:cNvSpPr/>
          <p:nvPr/>
        </p:nvSpPr>
        <p:spPr>
          <a:xfrm>
            <a:off x="6629400" y="3566160"/>
            <a:ext cx="548640" cy="54864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1074" y="3697834"/>
            <a:ext cx="285293" cy="285293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7360920" y="33558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400" dirty="0"/>
          </a:p>
        </p:txBody>
      </p:sp>
      <p:sp>
        <p:nvSpPr>
          <p:cNvPr id="35" name="Text 29"/>
          <p:cNvSpPr/>
          <p:nvPr/>
        </p:nvSpPr>
        <p:spPr>
          <a:xfrm>
            <a:off x="7360920" y="361188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Qualität &amp; Tests</a:t>
            </a:r>
            <a:endParaRPr lang="en-US" sz="1700" dirty="0"/>
          </a:p>
        </p:txBody>
      </p:sp>
      <p:sp>
        <p:nvSpPr>
          <p:cNvPr id="36" name="Text 30"/>
          <p:cNvSpPr/>
          <p:nvPr/>
        </p:nvSpPr>
        <p:spPr>
          <a:xfrm>
            <a:off x="7360920" y="4014216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 &amp; Stabilität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48640" y="4690872"/>
            <a:ext cx="5440680" cy="12984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548640" y="4690872"/>
            <a:ext cx="82296" cy="129844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9" name="Shape 33"/>
          <p:cNvSpPr/>
          <p:nvPr/>
        </p:nvSpPr>
        <p:spPr>
          <a:xfrm>
            <a:off x="868680" y="5065776"/>
            <a:ext cx="548640" cy="54864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4" y="5197450"/>
            <a:ext cx="285293" cy="285293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1600200" y="48554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400" dirty="0"/>
          </a:p>
        </p:txBody>
      </p:sp>
      <p:sp>
        <p:nvSpPr>
          <p:cNvPr id="42" name="Text 35"/>
          <p:cNvSpPr/>
          <p:nvPr/>
        </p:nvSpPr>
        <p:spPr>
          <a:xfrm>
            <a:off x="1600200" y="5111496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Automatisierung</a:t>
            </a:r>
            <a:endParaRPr lang="en-US" sz="1700" dirty="0"/>
          </a:p>
        </p:txBody>
      </p:sp>
      <p:sp>
        <p:nvSpPr>
          <p:cNvPr id="43" name="Text 36"/>
          <p:cNvSpPr/>
          <p:nvPr/>
        </p:nvSpPr>
        <p:spPr>
          <a:xfrm>
            <a:off x="1600200" y="5513832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Metriken &amp; CI/CD</a:t>
            </a:r>
            <a:endParaRPr lang="en-US" sz="1150" dirty="0"/>
          </a:p>
        </p:txBody>
      </p:sp>
      <p:sp>
        <p:nvSpPr>
          <p:cNvPr id="44" name="Shape 37"/>
          <p:cNvSpPr/>
          <p:nvPr/>
        </p:nvSpPr>
        <p:spPr>
          <a:xfrm>
            <a:off x="6309360" y="4690872"/>
            <a:ext cx="5440680" cy="12984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5" name="Shape 38"/>
          <p:cNvSpPr/>
          <p:nvPr/>
        </p:nvSpPr>
        <p:spPr>
          <a:xfrm>
            <a:off x="6309360" y="4690872"/>
            <a:ext cx="82296" cy="129844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46" name="Shape 39"/>
          <p:cNvSpPr/>
          <p:nvPr/>
        </p:nvSpPr>
        <p:spPr>
          <a:xfrm>
            <a:off x="6629400" y="5065776"/>
            <a:ext cx="548640" cy="54864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4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1074" y="5197450"/>
            <a:ext cx="285293" cy="285293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7360920" y="48554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400" dirty="0"/>
          </a:p>
        </p:txBody>
      </p:sp>
      <p:sp>
        <p:nvSpPr>
          <p:cNvPr id="49" name="Text 41"/>
          <p:cNvSpPr/>
          <p:nvPr/>
        </p:nvSpPr>
        <p:spPr>
          <a:xfrm>
            <a:off x="7360920" y="5111496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&amp; Live-Demo</a:t>
            </a:r>
            <a:endParaRPr lang="en-US" sz="1700" dirty="0"/>
          </a:p>
        </p:txBody>
      </p:sp>
      <p:sp>
        <p:nvSpPr>
          <p:cNvPr id="50" name="Text 42"/>
          <p:cNvSpPr/>
          <p:nvPr/>
        </p:nvSpPr>
        <p:spPr>
          <a:xfrm>
            <a:off x="7360920" y="5513832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 &amp; Vorführung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GANZ EINFACH ERKLÄRT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ist DualNetworking?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00200"/>
            <a:ext cx="6309360" cy="3749040"/>
          </a:xfrm>
          <a:prstGeom prst="rect">
            <a:avLst/>
          </a:prstGeom>
          <a:solidFill>
            <a:srgbClr val="F8EAEC"/>
          </a:solidFill>
          <a:ln/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18745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9E2C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 eigenes kleines soziales Netzwerk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68680" y="246888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von Instagram, X oder Facebook bekannt – nur von uns selbst gebaut. Nutzer melden sich an, veröffentlichen Beiträge, folgen einander und tauschen sich über Likes und Kommentare aus.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68680" y="3703320"/>
            <a:ext cx="107899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703320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E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Anmelden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39112" y="3703320"/>
            <a:ext cx="107899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39112" y="3703320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E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9544" y="3703320"/>
            <a:ext cx="107899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9544" y="3703320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E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Folgen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79976" y="3703320"/>
            <a:ext cx="107899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79976" y="3703320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E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50408" y="3703320"/>
            <a:ext cx="107899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50408" y="3703320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E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Kommentieren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8680" y="4526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„Von der Idee bis zur lauffähigen App – komplett selbst entwickelt.“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132320" y="1600200"/>
            <a:ext cx="4526280" cy="3749040"/>
          </a:xfrm>
          <a:prstGeom prst="rect">
            <a:avLst/>
          </a:prstGeom>
          <a:solidFill>
            <a:srgbClr val="3E4856"/>
          </a:solidFill>
          <a:ln/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360920" y="1828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 verbinden sich Menschen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63256" y="3291840"/>
            <a:ext cx="1110996" cy="0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63256" y="3291840"/>
            <a:ext cx="1234440" cy="802386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74252" y="2551176"/>
            <a:ext cx="1296162" cy="678942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997696" y="4094226"/>
            <a:ext cx="1172718" cy="0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97696" y="4094226"/>
            <a:ext cx="864108" cy="555498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170414" y="3230118"/>
            <a:ext cx="925830" cy="740664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861804" y="4649724"/>
            <a:ext cx="1234440" cy="0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80960" y="3209544"/>
            <a:ext cx="237744" cy="237744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33" name="Shape 31"/>
          <p:cNvSpPr/>
          <p:nvPr/>
        </p:nvSpPr>
        <p:spPr>
          <a:xfrm>
            <a:off x="8791956" y="2468880"/>
            <a:ext cx="182880" cy="182880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34" name="Shape 32"/>
          <p:cNvSpPr/>
          <p:nvPr/>
        </p:nvSpPr>
        <p:spPr>
          <a:xfrm>
            <a:off x="8915400" y="4011930"/>
            <a:ext cx="201168" cy="201168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35" name="Shape 33"/>
          <p:cNvSpPr/>
          <p:nvPr/>
        </p:nvSpPr>
        <p:spPr>
          <a:xfrm>
            <a:off x="10088118" y="3147822"/>
            <a:ext cx="274320" cy="274320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36" name="Shape 34"/>
          <p:cNvSpPr/>
          <p:nvPr/>
        </p:nvSpPr>
        <p:spPr>
          <a:xfrm>
            <a:off x="9779508" y="4567428"/>
            <a:ext cx="164592" cy="164592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37" name="Shape 35"/>
          <p:cNvSpPr/>
          <p:nvPr/>
        </p:nvSpPr>
        <p:spPr>
          <a:xfrm>
            <a:off x="11013948" y="3888486"/>
            <a:ext cx="219456" cy="219456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6680" y="2743200"/>
            <a:ext cx="502920" cy="50292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3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7381" y="2863901"/>
            <a:ext cx="261518" cy="261518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10149840" y="4617720"/>
            <a:ext cx="502920" cy="50292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4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0541" y="4738421"/>
            <a:ext cx="261518" cy="261518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9052560" y="3246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2288" y="3355848"/>
            <a:ext cx="237744" cy="237744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7360920" y="4892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7C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Beiträge · Follower · Reaktionen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FUNKTIONEN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APP IN AKTION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man mit DualNet tun kann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45920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645920"/>
            <a:ext cx="2670048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11" name="Shape 9"/>
          <p:cNvSpPr/>
          <p:nvPr/>
        </p:nvSpPr>
        <p:spPr>
          <a:xfrm>
            <a:off x="804672" y="1938528"/>
            <a:ext cx="713232" cy="713232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848" y="2109704"/>
            <a:ext cx="370881" cy="370881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77240" y="2724912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Registrieren &amp; Login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77240" y="3035808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Sicheres Konto mit Passwort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447288" y="1645920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447288" y="1645920"/>
            <a:ext cx="2670048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17" name="Shape 14"/>
          <p:cNvSpPr/>
          <p:nvPr/>
        </p:nvSpPr>
        <p:spPr>
          <a:xfrm>
            <a:off x="3703320" y="1938528"/>
            <a:ext cx="713232" cy="713232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4496" y="2109704"/>
            <a:ext cx="370881" cy="370881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675888" y="2724912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Beiträge posten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75888" y="3035808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und optional ein Bild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345936" y="1645920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345936" y="1645920"/>
            <a:ext cx="2670048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23" name="Shape 19"/>
          <p:cNvSpPr/>
          <p:nvPr/>
        </p:nvSpPr>
        <p:spPr>
          <a:xfrm>
            <a:off x="6601968" y="1938528"/>
            <a:ext cx="713232" cy="713232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3144" y="2109704"/>
            <a:ext cx="370881" cy="370881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574536" y="2724912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Liken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6574536" y="3035808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Beiträge mit einem Klick mögen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9244584" y="1645920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9244584" y="1645920"/>
            <a:ext cx="2670048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29" name="Shape 24"/>
          <p:cNvSpPr/>
          <p:nvPr/>
        </p:nvSpPr>
        <p:spPr>
          <a:xfrm>
            <a:off x="9500616" y="1938528"/>
            <a:ext cx="713232" cy="713232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71792" y="2109704"/>
            <a:ext cx="370881" cy="370881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473184" y="2724912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Kommentieren &amp; Antworten</a:t>
            </a:r>
            <a:endParaRPr lang="en-US" sz="1400" dirty="0"/>
          </a:p>
        </p:txBody>
      </p:sp>
      <p:sp>
        <p:nvSpPr>
          <p:cNvPr id="32" name="Text 26"/>
          <p:cNvSpPr/>
          <p:nvPr/>
        </p:nvSpPr>
        <p:spPr>
          <a:xfrm>
            <a:off x="9473184" y="3035808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 in Threads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548640" y="3602736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548640" y="3602736"/>
            <a:ext cx="2670048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5" name="Shape 29"/>
          <p:cNvSpPr/>
          <p:nvPr/>
        </p:nvSpPr>
        <p:spPr>
          <a:xfrm>
            <a:off x="804672" y="3895344"/>
            <a:ext cx="713232" cy="713232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5848" y="4066520"/>
            <a:ext cx="370881" cy="370881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777240" y="4681728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Folgen</a:t>
            </a:r>
            <a:endParaRPr lang="en-US" sz="1400" dirty="0"/>
          </a:p>
        </p:txBody>
      </p:sp>
      <p:sp>
        <p:nvSpPr>
          <p:cNvPr id="38" name="Text 31"/>
          <p:cNvSpPr/>
          <p:nvPr/>
        </p:nvSpPr>
        <p:spPr>
          <a:xfrm>
            <a:off x="777240" y="4992624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Anderen Nutzern folgen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3447288" y="3602736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3447288" y="3602736"/>
            <a:ext cx="2670048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41" name="Shape 34"/>
          <p:cNvSpPr/>
          <p:nvPr/>
        </p:nvSpPr>
        <p:spPr>
          <a:xfrm>
            <a:off x="3703320" y="3895344"/>
            <a:ext cx="713232" cy="713232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74496" y="4066520"/>
            <a:ext cx="370881" cy="370881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3675888" y="4681728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Feed-Tabs</a:t>
            </a:r>
            <a:endParaRPr lang="en-US" sz="1400" dirty="0"/>
          </a:p>
        </p:txBody>
      </p:sp>
      <p:sp>
        <p:nvSpPr>
          <p:cNvPr id="44" name="Text 36"/>
          <p:cNvSpPr/>
          <p:nvPr/>
        </p:nvSpPr>
        <p:spPr>
          <a:xfrm>
            <a:off x="3675888" y="4992624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dich · Gefolgte · Eigene</a:t>
            </a:r>
            <a:endParaRPr lang="en-US" sz="1100" dirty="0"/>
          </a:p>
        </p:txBody>
      </p:sp>
      <p:sp>
        <p:nvSpPr>
          <p:cNvPr id="45" name="Shape 37"/>
          <p:cNvSpPr/>
          <p:nvPr/>
        </p:nvSpPr>
        <p:spPr>
          <a:xfrm>
            <a:off x="6345936" y="3602736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6" name="Shape 38"/>
          <p:cNvSpPr/>
          <p:nvPr/>
        </p:nvSpPr>
        <p:spPr>
          <a:xfrm>
            <a:off x="6345936" y="3602736"/>
            <a:ext cx="2670048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47" name="Shape 39"/>
          <p:cNvSpPr/>
          <p:nvPr/>
        </p:nvSpPr>
        <p:spPr>
          <a:xfrm>
            <a:off x="6601968" y="3895344"/>
            <a:ext cx="713232" cy="713232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4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73144" y="4066520"/>
            <a:ext cx="370881" cy="370881"/>
          </a:xfrm>
          <a:prstGeom prst="rect">
            <a:avLst/>
          </a:prstGeom>
        </p:spPr>
      </p:pic>
      <p:sp>
        <p:nvSpPr>
          <p:cNvPr id="49" name="Text 40"/>
          <p:cNvSpPr/>
          <p:nvPr/>
        </p:nvSpPr>
        <p:spPr>
          <a:xfrm>
            <a:off x="6574536" y="4681728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Profil &amp; Bio</a:t>
            </a:r>
            <a:endParaRPr lang="en-US" sz="1400" dirty="0"/>
          </a:p>
        </p:txBody>
      </p:sp>
      <p:sp>
        <p:nvSpPr>
          <p:cNvPr id="50" name="Text 41"/>
          <p:cNvSpPr/>
          <p:nvPr/>
        </p:nvSpPr>
        <p:spPr>
          <a:xfrm>
            <a:off x="6574536" y="4992624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Profilbild und Beschreibung</a:t>
            </a:r>
            <a:endParaRPr lang="en-US" sz="1100" dirty="0"/>
          </a:p>
        </p:txBody>
      </p:sp>
      <p:sp>
        <p:nvSpPr>
          <p:cNvPr id="51" name="Shape 42"/>
          <p:cNvSpPr/>
          <p:nvPr/>
        </p:nvSpPr>
        <p:spPr>
          <a:xfrm>
            <a:off x="9244584" y="3602736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52" name="Shape 43"/>
          <p:cNvSpPr/>
          <p:nvPr/>
        </p:nvSpPr>
        <p:spPr>
          <a:xfrm>
            <a:off x="9244584" y="3602736"/>
            <a:ext cx="2670048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53" name="Shape 44"/>
          <p:cNvSpPr/>
          <p:nvPr/>
        </p:nvSpPr>
        <p:spPr>
          <a:xfrm>
            <a:off x="9500616" y="3895344"/>
            <a:ext cx="713232" cy="713232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5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71792" y="4066520"/>
            <a:ext cx="370881" cy="370881"/>
          </a:xfrm>
          <a:prstGeom prst="rect">
            <a:avLst/>
          </a:prstGeom>
        </p:spPr>
      </p:pic>
      <p:sp>
        <p:nvSpPr>
          <p:cNvPr id="55" name="Text 45"/>
          <p:cNvSpPr/>
          <p:nvPr/>
        </p:nvSpPr>
        <p:spPr>
          <a:xfrm>
            <a:off x="9473184" y="4681728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Bilder</a:t>
            </a:r>
            <a:endParaRPr lang="en-US" sz="1400" dirty="0"/>
          </a:p>
        </p:txBody>
      </p:sp>
      <p:sp>
        <p:nvSpPr>
          <p:cNvPr id="56" name="Text 46"/>
          <p:cNvSpPr/>
          <p:nvPr/>
        </p:nvSpPr>
        <p:spPr>
          <a:xfrm>
            <a:off x="9473184" y="4992624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 in Posts &amp; Profil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Projektziel &amp; Vision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00200"/>
            <a:ext cx="6492240" cy="1828800"/>
          </a:xfrm>
          <a:prstGeom prst="rect">
            <a:avLst/>
          </a:prstGeom>
          <a:solidFill>
            <a:srgbClr val="C5394A"/>
          </a:solidFill>
          <a:ln/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14173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E59A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6600" dirty="0"/>
          </a:p>
        </p:txBody>
      </p:sp>
      <p:sp>
        <p:nvSpPr>
          <p:cNvPr id="11" name="Text 9"/>
          <p:cNvSpPr/>
          <p:nvPr/>
        </p:nvSpPr>
        <p:spPr>
          <a:xfrm>
            <a:off x="1371600" y="1737360"/>
            <a:ext cx="55321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offene, minimalistische Social-Media-Plattform, die zeigt, dass ein vollständiger Technologie-Stack – von der Idee bis zur automatischen Auslieferung – in einem Semester umsetzbar ist.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269480" y="1600200"/>
            <a:ext cx="4370832" cy="8412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24928" y="1792224"/>
            <a:ext cx="457200" cy="45720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4656" y="190195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046720" y="1709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Für wen?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046720" y="1965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Studierende &amp; Hobby-Entwickler, die eine einfache, übersichtliche Plattform suchen.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269480" y="2560320"/>
            <a:ext cx="4370832" cy="8412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24928" y="2752344"/>
            <a:ext cx="457200" cy="45720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656" y="2862072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8046720" y="26700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 Ziel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804672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Wesentliche eines sozialen Netzwerks sauber und vollständig umsetzen.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48640" y="3749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Vollständiger Entwicklungs-Lebenszyklus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548640" y="4160520"/>
            <a:ext cx="1481328" cy="56692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48640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Idee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1993392" y="4160520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2139696" y="4160520"/>
            <a:ext cx="1481328" cy="566928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2139696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Anforderungen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84448" y="4160520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3730752" y="4160520"/>
            <a:ext cx="1481328" cy="56692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3730752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175504" y="4160520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32" name="Shape 28"/>
          <p:cNvSpPr/>
          <p:nvPr/>
        </p:nvSpPr>
        <p:spPr>
          <a:xfrm>
            <a:off x="5321808" y="4160520"/>
            <a:ext cx="1481328" cy="566928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321808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Programmierung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6766560" y="4160520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35" name="Shape 31"/>
          <p:cNvSpPr/>
          <p:nvPr/>
        </p:nvSpPr>
        <p:spPr>
          <a:xfrm>
            <a:off x="6912864" y="4160520"/>
            <a:ext cx="1481328" cy="56692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912864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8357616" y="4160520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38" name="Shape 34"/>
          <p:cNvSpPr/>
          <p:nvPr/>
        </p:nvSpPr>
        <p:spPr>
          <a:xfrm>
            <a:off x="8503920" y="4160520"/>
            <a:ext cx="1481328" cy="566928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8503920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9948672" y="4160520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41" name="Shape 37"/>
          <p:cNvSpPr/>
          <p:nvPr/>
        </p:nvSpPr>
        <p:spPr>
          <a:xfrm>
            <a:off x="10094976" y="4160520"/>
            <a:ext cx="1481328" cy="56692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10094976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Auslieferung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ABLAUF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FÜR SCHRITT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 funktioniert die Nutzung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1737360" y="2697480"/>
            <a:ext cx="8503920" cy="0"/>
          </a:xfrm>
          <a:prstGeom prst="line">
            <a:avLst/>
          </a:prstGeom>
          <a:noFill/>
          <a:ln w="25400">
            <a:solidFill>
              <a:srgbClr val="E7E5E8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1440180" y="2194560"/>
            <a:ext cx="1005840" cy="100584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582" y="2435962"/>
            <a:ext cx="523037" cy="523037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107692" y="214884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39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107692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0080" y="3474720"/>
            <a:ext cx="2606040" cy="169164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0080" y="3474720"/>
            <a:ext cx="2606040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3657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Konto erstellen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68680" y="416052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Sekunden registrieren und einloggen.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93108" y="2194560"/>
            <a:ext cx="1005840" cy="100584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4510" y="2435962"/>
            <a:ext cx="523037" cy="523037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4960620" y="214884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E485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96062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3493008" y="3474720"/>
            <a:ext cx="2606040" cy="169164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3493008" y="3474720"/>
            <a:ext cx="2606040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24" name="Text 20"/>
          <p:cNvSpPr/>
          <p:nvPr/>
        </p:nvSpPr>
        <p:spPr>
          <a:xfrm>
            <a:off x="3675888" y="3657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Beitrag teilen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3721608" y="416052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Einen Post mit Text oder Bild veröffentlichen.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7146036" y="2194560"/>
            <a:ext cx="1005840" cy="100584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7438" y="2435962"/>
            <a:ext cx="523037" cy="523037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7813548" y="214884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394A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7813548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6345936" y="3474720"/>
            <a:ext cx="2606040" cy="169164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345936" y="3474720"/>
            <a:ext cx="2606040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2" name="Text 27"/>
          <p:cNvSpPr/>
          <p:nvPr/>
        </p:nvSpPr>
        <p:spPr>
          <a:xfrm>
            <a:off x="6528816" y="3657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Vernetzen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6574536" y="416052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Anderen folgen und ihren Feed sehen.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9998964" y="2194560"/>
            <a:ext cx="1005840" cy="100584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0366" y="2435962"/>
            <a:ext cx="523037" cy="523037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>
            <a:off x="10666476" y="214884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E4856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10666476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9198864" y="3474720"/>
            <a:ext cx="2606040" cy="169164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Shape 33"/>
          <p:cNvSpPr/>
          <p:nvPr/>
        </p:nvSpPr>
        <p:spPr>
          <a:xfrm>
            <a:off x="9198864" y="3474720"/>
            <a:ext cx="2606040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40" name="Text 34"/>
          <p:cNvSpPr/>
          <p:nvPr/>
        </p:nvSpPr>
        <p:spPr>
          <a:xfrm>
            <a:off x="9381744" y="3657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Interagieren</a:t>
            </a:r>
            <a:endParaRPr lang="en-US" sz="1600" dirty="0"/>
          </a:p>
        </p:txBody>
      </p:sp>
      <p:sp>
        <p:nvSpPr>
          <p:cNvPr id="41" name="Text 35"/>
          <p:cNvSpPr/>
          <p:nvPr/>
        </p:nvSpPr>
        <p:spPr>
          <a:xfrm>
            <a:off x="9427464" y="416052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Liken, kommentieren, antworten.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ARCHITEKTUR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DREI BAUSTEINEN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Wie die App aufgebaut ist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315468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3154680" cy="128016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11" name="Shape 9"/>
          <p:cNvSpPr/>
          <p:nvPr/>
        </p:nvSpPr>
        <p:spPr>
          <a:xfrm>
            <a:off x="1906524" y="1993392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5754" y="2142622"/>
            <a:ext cx="323332" cy="3233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265176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Oberfläche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22960" y="32461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der Nutzer sieht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143000" y="37033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· TypeScript</a:t>
            </a:r>
            <a:endParaRPr lang="en-US" sz="1200" dirty="0"/>
          </a:p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· React Router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813048" y="2880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904488" y="3291840"/>
            <a:ext cx="694944" cy="0"/>
          </a:xfrm>
          <a:prstGeom prst="line">
            <a:avLst/>
          </a:prstGeom>
          <a:noFill/>
          <a:ln w="31750">
            <a:solidFill>
              <a:srgbClr val="C5394A"/>
            </a:solidFill>
            <a:prstDash val="solid"/>
            <a:headEnd type="triangle"/>
            <a:tailEnd type="triangle"/>
          </a:ln>
        </p:spPr>
      </p:sp>
      <p:sp>
        <p:nvSpPr>
          <p:cNvPr id="18" name="Text 15"/>
          <p:cNvSpPr/>
          <p:nvPr/>
        </p:nvSpPr>
        <p:spPr>
          <a:xfrm>
            <a:off x="3813048" y="3364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E8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erhält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709160" y="1828800"/>
            <a:ext cx="315468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09160" y="1828800"/>
            <a:ext cx="3154680" cy="1280160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21" name="Shape 18"/>
          <p:cNvSpPr/>
          <p:nvPr/>
        </p:nvSpPr>
        <p:spPr>
          <a:xfrm>
            <a:off x="5975604" y="1993392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4834" y="2142622"/>
            <a:ext cx="323332" cy="323332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4709160" y="265176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Logik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4892040" y="32461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Verarbeitet alle Anfragen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5212080" y="37033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· Java 21</a:t>
            </a:r>
            <a:endParaRPr lang="en-US" sz="1200" dirty="0"/>
          </a:p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JWT-Login · REST-API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7882128" y="2880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sendet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7973568" y="3291840"/>
            <a:ext cx="694944" cy="0"/>
          </a:xfrm>
          <a:prstGeom prst="line">
            <a:avLst/>
          </a:prstGeom>
          <a:noFill/>
          <a:ln w="31750">
            <a:solidFill>
              <a:srgbClr val="C5394A"/>
            </a:solidFill>
            <a:prstDash val="solid"/>
            <a:headEnd type="triangle"/>
            <a:tailEnd type="triangle"/>
          </a:ln>
        </p:spPr>
      </p:sp>
      <p:sp>
        <p:nvSpPr>
          <p:cNvPr id="28" name="Text 24"/>
          <p:cNvSpPr/>
          <p:nvPr/>
        </p:nvSpPr>
        <p:spPr>
          <a:xfrm>
            <a:off x="7882128" y="3364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E8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erhält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778240" y="1828800"/>
            <a:ext cx="315468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8778240" y="1828800"/>
            <a:ext cx="3154680" cy="128016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1" name="Shape 27"/>
          <p:cNvSpPr/>
          <p:nvPr/>
        </p:nvSpPr>
        <p:spPr>
          <a:xfrm>
            <a:off x="10044684" y="1993392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93914" y="2142622"/>
            <a:ext cx="323332" cy="323332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8778240" y="265176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Speicher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8961120" y="32461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Bewahrt alle Daten auf</a:t>
            </a:r>
            <a:endParaRPr lang="en-US" sz="1250" dirty="0"/>
          </a:p>
        </p:txBody>
      </p:sp>
      <p:sp>
        <p:nvSpPr>
          <p:cNvPr id="35" name="Text 30"/>
          <p:cNvSpPr/>
          <p:nvPr/>
        </p:nvSpPr>
        <p:spPr>
          <a:xfrm>
            <a:off x="9281160" y="37033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7 (Docker)</a:t>
            </a:r>
            <a:endParaRPr lang="en-US" sz="1200" dirty="0"/>
          </a:p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Datensammlungen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640080" y="4800600"/>
            <a:ext cx="10881360" cy="822960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868680" y="5001768"/>
            <a:ext cx="420624" cy="420624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630" y="5102718"/>
            <a:ext cx="218724" cy="21872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1417320" y="4800600"/>
            <a:ext cx="9966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E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 getrennte Bausteine  </a:t>
            </a:r>
            <a:r>
              <a:rPr lang="en-US" sz="13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jeder Teil hat eine Aufgabe und lässt sich einzeln testen oder austauschen. Das hält die App wartbar.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ENTSCHEIDUNGEN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BEGRÜNDETE ENTSCHEIDUNGEN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Warum diese Technik?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544068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691640"/>
            <a:ext cx="82296" cy="178308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2148840"/>
            <a:ext cx="822960" cy="82296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" y="2346350"/>
            <a:ext cx="427939" cy="427939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874520" y="19659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ADR-001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874520" y="2203704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+ TypeScript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1874520" y="2624328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Typsicherheit, große Community, alle im Team mit JS-Basis.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309360" y="1691640"/>
            <a:ext cx="544068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309360" y="1691640"/>
            <a:ext cx="82296" cy="1783080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18" name="Shape 15"/>
          <p:cNvSpPr/>
          <p:nvPr/>
        </p:nvSpPr>
        <p:spPr>
          <a:xfrm>
            <a:off x="6629400" y="2148840"/>
            <a:ext cx="822960" cy="82296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6910" y="2346350"/>
            <a:ext cx="427939" cy="427939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635240" y="19659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7635240" y="2203704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Spring Boot 3</a:t>
            </a:r>
            <a:endParaRPr lang="en-US" sz="1650" dirty="0"/>
          </a:p>
        </p:txBody>
      </p:sp>
      <p:sp>
        <p:nvSpPr>
          <p:cNvPr id="22" name="Text 18"/>
          <p:cNvSpPr/>
          <p:nvPr/>
        </p:nvSpPr>
        <p:spPr>
          <a:xfrm>
            <a:off x="7635240" y="2624328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Reifes Java-Ökosystem, klare Schichten, sichere Logik.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48640" y="3749040"/>
            <a:ext cx="544068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548640" y="3749040"/>
            <a:ext cx="82296" cy="178308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25" name="Shape 21"/>
          <p:cNvSpPr/>
          <p:nvPr/>
        </p:nvSpPr>
        <p:spPr>
          <a:xfrm>
            <a:off x="868680" y="4206240"/>
            <a:ext cx="822960" cy="82296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190" y="4403750"/>
            <a:ext cx="427939" cy="427939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874520" y="40233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ADR-003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1874520" y="4261104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MongoDB</a:t>
            </a:r>
            <a:endParaRPr lang="en-US" sz="1650" dirty="0"/>
          </a:p>
        </p:txBody>
      </p:sp>
      <p:sp>
        <p:nvSpPr>
          <p:cNvPr id="29" name="Text 24"/>
          <p:cNvSpPr/>
          <p:nvPr/>
        </p:nvSpPr>
        <p:spPr>
          <a:xfrm>
            <a:off x="1874520" y="4681728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&amp; Kommentare sind dokumentartig – flexibel &amp; ohne Migrationen.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6309360" y="3749040"/>
            <a:ext cx="544068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309360" y="3749040"/>
            <a:ext cx="82296" cy="1783080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32" name="Shape 27"/>
          <p:cNvSpPr/>
          <p:nvPr/>
        </p:nvSpPr>
        <p:spPr>
          <a:xfrm>
            <a:off x="6629400" y="4206240"/>
            <a:ext cx="822960" cy="82296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6910" y="4403750"/>
            <a:ext cx="427939" cy="427939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7635240" y="40233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ADR-004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7635240" y="4261104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JWT-Login</a:t>
            </a:r>
            <a:endParaRPr lang="en-US" sz="1650" dirty="0"/>
          </a:p>
        </p:txBody>
      </p:sp>
      <p:sp>
        <p:nvSpPr>
          <p:cNvPr id="36" name="Text 30"/>
          <p:cNvSpPr/>
          <p:nvPr/>
        </p:nvSpPr>
        <p:spPr>
          <a:xfrm>
            <a:off x="7635240" y="4681728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Anmeldung ohne Server-Sitzung – einfach &amp; gut skalierbar.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TECH-STACK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WERKZEUGE &amp; BIBLIOTHEKEN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 Technologie-Stack</a:t>
            </a:r>
            <a:endParaRPr lang="en-US" sz="2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766560" cy="3872484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Bereich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8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Technologie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8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Version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8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Oberfläche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+ TypeScript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 / 5.5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Build-Tool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+ Spring Boot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/ 3.3.4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 (JJWT)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Datenbank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Infrastruktur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 Compose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Automatisierung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Oberfläche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Vitest + Testing Library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 / 16.0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Logik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JUnit 5 + Mockito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Codequalität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Maven PMD Plugin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3.23.0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Shape 7"/>
          <p:cNvSpPr/>
          <p:nvPr/>
        </p:nvSpPr>
        <p:spPr>
          <a:xfrm>
            <a:off x="7635240" y="1691640"/>
            <a:ext cx="3931920" cy="1078992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772400" y="1737360"/>
            <a:ext cx="13716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9144000" y="1874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Bausteine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144000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Oberfläche · Logik · Daten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635240" y="2916936"/>
            <a:ext cx="3931920" cy="1078992"/>
          </a:xfrm>
          <a:prstGeom prst="rect">
            <a:avLst/>
          </a:prstGeom>
          <a:solidFill>
            <a:srgbClr val="3E4856"/>
          </a:solidFill>
          <a:ln w="12700">
            <a:solidFill>
              <a:srgbClr val="3E4856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772400" y="2962656"/>
            <a:ext cx="13716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4400" dirty="0"/>
          </a:p>
        </p:txBody>
      </p:sp>
      <p:sp>
        <p:nvSpPr>
          <p:cNvPr id="16" name="Text 13"/>
          <p:cNvSpPr/>
          <p:nvPr/>
        </p:nvSpPr>
        <p:spPr>
          <a:xfrm>
            <a:off x="9144000" y="309981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Technologien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0" y="346557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C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Stack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635240" y="4142232"/>
            <a:ext cx="3931920" cy="1078992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772400" y="4187952"/>
            <a:ext cx="13716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9144000" y="43251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Datensammlungen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144000" y="46908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MongoDB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SAUBER &amp; WARTBAR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Aufbau-Muster &amp; Clean Code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Bewährte Muster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057400"/>
            <a:ext cx="365760" cy="36576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" y="2145182"/>
            <a:ext cx="190195" cy="19019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51560" y="202082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Schichten-Architektur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51560" y="2313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Anfrage – Logik – Speicher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2715768"/>
            <a:ext cx="365760" cy="36576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" y="2803550"/>
            <a:ext cx="190195" cy="19019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051560" y="267919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Repository-Muster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1051560" y="29718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Standardisierter Datenzugriff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48640" y="3374136"/>
            <a:ext cx="365760" cy="36576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" y="3461918"/>
            <a:ext cx="190195" cy="19019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51560" y="333756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DTO / Mapper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051560" y="36301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Saubere Trennung Daten / Antwort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48640" y="4032504"/>
            <a:ext cx="365760" cy="36576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" y="4120286"/>
            <a:ext cx="190195" cy="190195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51560" y="39959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Injection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1051560" y="42885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Lose gekoppelte Bausteine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548640" y="4690872"/>
            <a:ext cx="365760" cy="36576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" y="4778654"/>
            <a:ext cx="190195" cy="190195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051560" y="465429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SRP · DRY · IOSP · SLA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1051560" y="49469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Clean-Code-Prinzipien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6355080" y="1645920"/>
            <a:ext cx="5212080" cy="384048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355080" y="1645920"/>
            <a:ext cx="5212080" cy="640080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32" name="Shape 25"/>
          <p:cNvSpPr/>
          <p:nvPr/>
        </p:nvSpPr>
        <p:spPr>
          <a:xfrm>
            <a:off x="6537960" y="178308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5742" y="1870862"/>
            <a:ext cx="190195" cy="190195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7040880" y="164592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Refactoring (AB14)</a:t>
            </a:r>
            <a:endParaRPr lang="en-US" sz="1600" dirty="0"/>
          </a:p>
        </p:txBody>
      </p:sp>
      <p:sp>
        <p:nvSpPr>
          <p:cNvPr id="35" name="Shape 27"/>
          <p:cNvSpPr/>
          <p:nvPr/>
        </p:nvSpPr>
        <p:spPr>
          <a:xfrm>
            <a:off x="6629400" y="2514600"/>
            <a:ext cx="1005840" cy="1005840"/>
          </a:xfrm>
          <a:prstGeom prst="ellipse">
            <a:avLst/>
          </a:prstGeom>
          <a:solidFill>
            <a:srgbClr val="F8EAEC"/>
          </a:solidFill>
          <a:ln/>
        </p:spPr>
      </p:sp>
      <p:sp>
        <p:nvSpPr>
          <p:cNvPr id="36" name="Text 28"/>
          <p:cNvSpPr/>
          <p:nvPr/>
        </p:nvSpPr>
        <p:spPr>
          <a:xfrm>
            <a:off x="6629400" y="2514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4600" dirty="0"/>
          </a:p>
        </p:txBody>
      </p:sp>
      <p:sp>
        <p:nvSpPr>
          <p:cNvPr id="37" name="Text 29"/>
          <p:cNvSpPr/>
          <p:nvPr/>
        </p:nvSpPr>
        <p:spPr>
          <a:xfrm>
            <a:off x="7818120" y="265176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Smells gefunden &amp; behoben</a:t>
            </a:r>
            <a:endParaRPr lang="en-US" sz="1400" dirty="0"/>
          </a:p>
        </p:txBody>
      </p:sp>
      <p:sp>
        <p:nvSpPr>
          <p:cNvPr id="38" name="Text 30"/>
          <p:cNvSpPr/>
          <p:nvPr/>
        </p:nvSpPr>
        <p:spPr>
          <a:xfrm>
            <a:off x="6629400" y="3657600"/>
            <a:ext cx="4709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Schwach typisierte Rückgaben → klare DTOs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Doppelte Logik → DRY-Refactoring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Gebrochene Kapselung behoben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Überladene Methoden aufgeteilt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Vermischte Ebenen (IOSP) getrennt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Toten Code entfernt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GEPRÜFT &amp; ABGESICHERT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Qualitätssicherung &amp; Tests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45920"/>
            <a:ext cx="3474720" cy="1188720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16916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47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54864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Testfälle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51960" y="1645920"/>
            <a:ext cx="3474720" cy="1188720"/>
          </a:xfrm>
          <a:prstGeom prst="rect">
            <a:avLst/>
          </a:prstGeom>
          <a:solidFill>
            <a:srgbClr val="3E4856"/>
          </a:solidFill>
          <a:ln w="12700">
            <a:solidFill>
              <a:srgbClr val="3E4856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251960" y="16916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425196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7C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Test-Arten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955280" y="1645920"/>
            <a:ext cx="3474720" cy="1188720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955280" y="16916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795528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Unit/IT bestanden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063240"/>
            <a:ext cx="5440680" cy="768096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246120"/>
            <a:ext cx="411480" cy="41148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" y="3344875"/>
            <a:ext cx="213970" cy="21397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25880" y="315468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Logik-Tests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1325880" y="34472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Einzelne Funktionen isoliert geprüft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48640" y="3977640"/>
            <a:ext cx="5440680" cy="768096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1520" y="4160520"/>
            <a:ext cx="411480" cy="41148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" y="4259275"/>
            <a:ext cx="213970" cy="21397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325880" y="406908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Oberflächen-Tests</a:t>
            </a:r>
            <a:endParaRPr lang="en-US" sz="1350" dirty="0"/>
          </a:p>
        </p:txBody>
      </p:sp>
      <p:sp>
        <p:nvSpPr>
          <p:cNvPr id="27" name="Text 23"/>
          <p:cNvSpPr/>
          <p:nvPr/>
        </p:nvSpPr>
        <p:spPr>
          <a:xfrm>
            <a:off x="1325880" y="43616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Komponenten &amp; Klicks getestet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48640" y="4892040"/>
            <a:ext cx="5440680" cy="768096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31520" y="5074920"/>
            <a:ext cx="411480" cy="41148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275" y="5173675"/>
            <a:ext cx="213970" cy="21397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498348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Zusammenspiel</a:t>
            </a:r>
            <a:endParaRPr lang="en-US" sz="1350" dirty="0"/>
          </a:p>
        </p:txBody>
      </p:sp>
      <p:sp>
        <p:nvSpPr>
          <p:cNvPr id="32" name="Text 27"/>
          <p:cNvSpPr/>
          <p:nvPr/>
        </p:nvSpPr>
        <p:spPr>
          <a:xfrm>
            <a:off x="1325880" y="52760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Komplette Abläufe Ende-zu-Ende</a:t>
            </a:r>
            <a:endParaRPr lang="en-US" sz="1050" dirty="0"/>
          </a:p>
        </p:txBody>
      </p:sp>
      <p:sp>
        <p:nvSpPr>
          <p:cNvPr id="33" name="Shape 28"/>
          <p:cNvSpPr/>
          <p:nvPr/>
        </p:nvSpPr>
        <p:spPr>
          <a:xfrm>
            <a:off x="6126480" y="3063240"/>
            <a:ext cx="5440680" cy="768096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6309360" y="3246120"/>
            <a:ext cx="411480" cy="41148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8115" y="3344875"/>
            <a:ext cx="213970" cy="21397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6903720" y="315468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Schnelltests</a:t>
            </a:r>
            <a:endParaRPr lang="en-US" sz="1350" dirty="0"/>
          </a:p>
        </p:txBody>
      </p:sp>
      <p:sp>
        <p:nvSpPr>
          <p:cNvPr id="37" name="Text 31"/>
          <p:cNvSpPr/>
          <p:nvPr/>
        </p:nvSpPr>
        <p:spPr>
          <a:xfrm>
            <a:off x="6903720" y="34472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Kernabläufe nach jedem Update</a:t>
            </a:r>
            <a:endParaRPr lang="en-US" sz="1050" dirty="0"/>
          </a:p>
        </p:txBody>
      </p:sp>
      <p:sp>
        <p:nvSpPr>
          <p:cNvPr id="38" name="Shape 32"/>
          <p:cNvSpPr/>
          <p:nvPr/>
        </p:nvSpPr>
        <p:spPr>
          <a:xfrm>
            <a:off x="6126480" y="3977640"/>
            <a:ext cx="5440680" cy="768096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6309360" y="4160520"/>
            <a:ext cx="411480" cy="41148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8115" y="4259275"/>
            <a:ext cx="213970" cy="213970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6903720" y="406908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Sicherheit</a:t>
            </a:r>
            <a:endParaRPr lang="en-US" sz="1350" dirty="0"/>
          </a:p>
        </p:txBody>
      </p:sp>
      <p:sp>
        <p:nvSpPr>
          <p:cNvPr id="42" name="Text 35"/>
          <p:cNvSpPr/>
          <p:nvPr/>
        </p:nvSpPr>
        <p:spPr>
          <a:xfrm>
            <a:off x="6903720" y="43616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Login-Schutz &amp; manipulierte Zugriffe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METRIKEN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MESSEN &amp; STEUERN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Software-Metriken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5212080" cy="2148840"/>
          </a:xfrm>
          <a:prstGeom prst="rect">
            <a:avLst/>
          </a:prstGeom>
          <a:solidFill>
            <a:srgbClr val="C5394A"/>
          </a:solidFill>
          <a:ln/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182880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 72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548640" y="29260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Points (Albrecht)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3291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F8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Maß für den Funktionsumfang  ·  UFP 78 × VAF 0,92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691640"/>
            <a:ext cx="5532120" cy="214884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63640" y="1874520"/>
            <a:ext cx="502920" cy="50292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4341" y="1995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903720" y="18928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Code-Komplexität (PMD)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309360" y="2514600"/>
            <a:ext cx="50292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Messung im Build bei jedem Push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Schwachstellen erkannt &amp; verbessert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Komplexität nach Refactoring deutlich gesenkt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48640" y="4069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Betrachtete Metrik-Familien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4480560"/>
            <a:ext cx="265176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8640" y="4480560"/>
            <a:ext cx="2651760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21" name="Shape 18"/>
          <p:cNvSpPr/>
          <p:nvPr/>
        </p:nvSpPr>
        <p:spPr>
          <a:xfrm>
            <a:off x="731520" y="4736592"/>
            <a:ext cx="457200" cy="45720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4846320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325880" y="46177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Größe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132588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Points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3346704" y="4480560"/>
            <a:ext cx="265176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3346704" y="4480560"/>
            <a:ext cx="2651760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27" name="Shape 23"/>
          <p:cNvSpPr/>
          <p:nvPr/>
        </p:nvSpPr>
        <p:spPr>
          <a:xfrm>
            <a:off x="3529584" y="4736592"/>
            <a:ext cx="457200" cy="45720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9312" y="4846320"/>
            <a:ext cx="237744" cy="23774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123944" y="46177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Qualität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4123944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Eindeutig &amp; vollständig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6144768" y="4480560"/>
            <a:ext cx="265176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6144768" y="4480560"/>
            <a:ext cx="2651760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3" name="Shape 28"/>
          <p:cNvSpPr/>
          <p:nvPr/>
        </p:nvSpPr>
        <p:spPr>
          <a:xfrm>
            <a:off x="6327648" y="4736592"/>
            <a:ext cx="457200" cy="45720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7376" y="4846320"/>
            <a:ext cx="237744" cy="237744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6922008" y="46177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Stabilität</a:t>
            </a:r>
            <a:endParaRPr lang="en-US" sz="1350" dirty="0"/>
          </a:p>
        </p:txBody>
      </p:sp>
      <p:sp>
        <p:nvSpPr>
          <p:cNvPr id="36" name="Text 30"/>
          <p:cNvSpPr/>
          <p:nvPr/>
        </p:nvSpPr>
        <p:spPr>
          <a:xfrm>
            <a:off x="6922008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oft ändert es sich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8942832" y="4480560"/>
            <a:ext cx="265176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8942832" y="4480560"/>
            <a:ext cx="2651760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39" name="Shape 33"/>
          <p:cNvSpPr/>
          <p:nvPr/>
        </p:nvSpPr>
        <p:spPr>
          <a:xfrm>
            <a:off x="9125712" y="4736592"/>
            <a:ext cx="457200" cy="45720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4846320"/>
            <a:ext cx="237744" cy="23774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720072" y="46177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Prozess</a:t>
            </a:r>
            <a:endParaRPr lang="en-US" sz="1350" dirty="0"/>
          </a:p>
        </p:txBody>
      </p:sp>
      <p:sp>
        <p:nvSpPr>
          <p:cNvPr id="42" name="Text 35"/>
          <p:cNvSpPr/>
          <p:nvPr/>
        </p:nvSpPr>
        <p:spPr>
          <a:xfrm>
            <a:off x="9720072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Rückverfolgbarkeit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AUTOMATISIERUNG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 GETESTET &amp; GEBAUT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Auslieferung per Knopfdruck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48640" y="1600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jeder Code-Änderung läuft automatisch der gesamte Prüf- und Bau-Prozess.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148840"/>
            <a:ext cx="1965960" cy="868680"/>
          </a:xfrm>
          <a:prstGeom prst="rect">
            <a:avLst/>
          </a:prstGeom>
          <a:solidFill>
            <a:srgbClr val="C5394A"/>
          </a:solidFill>
          <a:ln w="19050">
            <a:solidFill>
              <a:srgbClr val="C5394A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2368296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10" y="2469246"/>
            <a:ext cx="218724" cy="21872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214884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Änderung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642616" y="2583180"/>
            <a:ext cx="246888" cy="0"/>
          </a:xfrm>
          <a:prstGeom prst="line">
            <a:avLst/>
          </a:prstGeom>
          <a:noFill/>
          <a:ln w="31750">
            <a:solidFill>
              <a:srgbClr val="C5394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2926080" y="2148840"/>
            <a:ext cx="19659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5394A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108960" y="2368296"/>
            <a:ext cx="420624" cy="420624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9910" y="2469246"/>
            <a:ext cx="218724" cy="21872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611880" y="214884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Holen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4928616" y="2583180"/>
            <a:ext cx="246888" cy="0"/>
          </a:xfrm>
          <a:prstGeom prst="line">
            <a:avLst/>
          </a:prstGeom>
          <a:noFill/>
          <a:ln w="31750">
            <a:solidFill>
              <a:srgbClr val="C5394A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5212080" y="2148840"/>
            <a:ext cx="19659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5394A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394960" y="2368296"/>
            <a:ext cx="420624" cy="420624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5910" y="2469246"/>
            <a:ext cx="218724" cy="21872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897880" y="214884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Bauen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7214616" y="2583180"/>
            <a:ext cx="246888" cy="0"/>
          </a:xfrm>
          <a:prstGeom prst="line">
            <a:avLst/>
          </a:prstGeom>
          <a:noFill/>
          <a:ln w="31750">
            <a:solidFill>
              <a:srgbClr val="C5394A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7498080" y="2148840"/>
            <a:ext cx="19659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5394A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7680960" y="2368296"/>
            <a:ext cx="420624" cy="420624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81910" y="2469246"/>
            <a:ext cx="218724" cy="21872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183880" y="214884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Testen</a:t>
            </a:r>
            <a:endParaRPr lang="en-US" sz="1400" dirty="0"/>
          </a:p>
        </p:txBody>
      </p:sp>
      <p:sp>
        <p:nvSpPr>
          <p:cNvPr id="29" name="Shape 23"/>
          <p:cNvSpPr/>
          <p:nvPr/>
        </p:nvSpPr>
        <p:spPr>
          <a:xfrm>
            <a:off x="9500616" y="2583180"/>
            <a:ext cx="246888" cy="0"/>
          </a:xfrm>
          <a:prstGeom prst="line">
            <a:avLst/>
          </a:prstGeom>
          <a:noFill/>
          <a:ln w="31750">
            <a:solidFill>
              <a:srgbClr val="C5394A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9784080" y="2148840"/>
            <a:ext cx="19659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5394A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9966960" y="2368296"/>
            <a:ext cx="420624" cy="420624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67910" y="2469246"/>
            <a:ext cx="218724" cy="21872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469880" y="214884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</a:t>
            </a:r>
            <a:endParaRPr lang="en-US" sz="1400" dirty="0"/>
          </a:p>
        </p:txBody>
      </p:sp>
      <p:sp>
        <p:nvSpPr>
          <p:cNvPr id="34" name="Shape 27"/>
          <p:cNvSpPr/>
          <p:nvPr/>
        </p:nvSpPr>
        <p:spPr>
          <a:xfrm>
            <a:off x="640080" y="3337560"/>
            <a:ext cx="5303520" cy="228600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640080" y="3337560"/>
            <a:ext cx="5303520" cy="65836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6" name="Shape 29"/>
          <p:cNvSpPr/>
          <p:nvPr/>
        </p:nvSpPr>
        <p:spPr>
          <a:xfrm>
            <a:off x="841248" y="348386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20" y="3576036"/>
            <a:ext cx="199705" cy="199705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1353312" y="333756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frontend-ci.yml</a:t>
            </a:r>
            <a:endParaRPr lang="en-US" sz="1600" dirty="0"/>
          </a:p>
        </p:txBody>
      </p:sp>
      <p:sp>
        <p:nvSpPr>
          <p:cNvPr id="39" name="Text 31"/>
          <p:cNvSpPr/>
          <p:nvPr/>
        </p:nvSpPr>
        <p:spPr>
          <a:xfrm>
            <a:off x="960120" y="4206240"/>
            <a:ext cx="4663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20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Pakete installieren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Oberflächen-Tests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Produktiv-Build</a:t>
            </a:r>
            <a:endParaRPr lang="en-US" sz="1300" dirty="0"/>
          </a:p>
        </p:txBody>
      </p:sp>
      <p:sp>
        <p:nvSpPr>
          <p:cNvPr id="40" name="Shape 32"/>
          <p:cNvSpPr/>
          <p:nvPr/>
        </p:nvSpPr>
        <p:spPr>
          <a:xfrm>
            <a:off x="6217920" y="3337560"/>
            <a:ext cx="5303520" cy="228600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6217920" y="3337560"/>
            <a:ext cx="5303520" cy="65836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42" name="Shape 34"/>
          <p:cNvSpPr/>
          <p:nvPr/>
        </p:nvSpPr>
        <p:spPr>
          <a:xfrm>
            <a:off x="6419088" y="348386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3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1260" y="3576036"/>
            <a:ext cx="199705" cy="199705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6931152" y="333756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backend-ci.yml</a:t>
            </a:r>
            <a:endParaRPr lang="en-US" sz="1600" dirty="0"/>
          </a:p>
        </p:txBody>
      </p:sp>
      <p:sp>
        <p:nvSpPr>
          <p:cNvPr id="45" name="Text 36"/>
          <p:cNvSpPr/>
          <p:nvPr/>
        </p:nvSpPr>
        <p:spPr>
          <a:xfrm>
            <a:off x="6537960" y="4206240"/>
            <a:ext cx="4663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 (Temurin)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Maven-Build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Logik- &amp; Integrationstests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Qualitätsanalyse (PMD)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&amp; Projektmanagement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3E4856"/>
                </a:solidFill>
                <a:latin typeface="Trebuchet MS"/>
                <a:ea typeface="Trebuchet MS" pitchFamily="34" charset="-122"/>
                <a:cs typeface="Trebuchet MS" pitchFamily="34" charset="-120"/>
              </a:rPr>
              <a:t>Beiträge</a:t>
            </a:r>
            <a:r>
              <a:rPr lang="en-US" sz="1400" b="1" dirty="0">
                <a:solidFill>
                  <a:srgbClr val="3E4856"/>
                </a:solidFill>
                <a:latin typeface="Trebuchet MS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400" b="1" dirty="0" err="1">
                <a:solidFill>
                  <a:srgbClr val="3E4856"/>
                </a:solidFill>
                <a:latin typeface="Trebuchet MS"/>
                <a:ea typeface="Trebuchet MS" pitchFamily="34" charset="-122"/>
                <a:cs typeface="Trebuchet MS" pitchFamily="34" charset="-120"/>
              </a:rPr>
              <a:t>im</a:t>
            </a:r>
            <a:r>
              <a:rPr lang="en-US" sz="1400" b="1" dirty="0">
                <a:solidFill>
                  <a:srgbClr val="3E4856"/>
                </a:solidFill>
                <a:latin typeface="Trebuchet MS"/>
                <a:ea typeface="Trebuchet MS" pitchFamily="34" charset="-122"/>
                <a:cs typeface="Trebuchet MS" pitchFamily="34" charset="-120"/>
              </a:rPr>
              <a:t> Team (Commits)</a:t>
            </a:r>
            <a:endParaRPr lang="en-US" sz="1400" dirty="0">
              <a:latin typeface="Trebuchet MS"/>
            </a:endParaRPr>
          </a:p>
        </p:txBody>
      </p:sp>
      <p:graphicFrame>
        <p:nvGraphicFramePr>
          <p:cNvPr id="10" name="Chart 0"/>
          <p:cNvGraphicFramePr/>
          <p:nvPr/>
        </p:nvGraphicFramePr>
        <p:xfrm>
          <a:off x="457200" y="196596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Shape 8"/>
          <p:cNvSpPr/>
          <p:nvPr/>
        </p:nvSpPr>
        <p:spPr>
          <a:xfrm>
            <a:off x="6492240" y="1965960"/>
            <a:ext cx="5074920" cy="155448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75120" y="2121408"/>
            <a:ext cx="384048" cy="384048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7292" y="2213580"/>
            <a:ext cx="199705" cy="19970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212140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Vorgehen &amp; Fakten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720840" y="2606040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mit wöchentlichen Sprints (20 Wochen)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Commits · 4 Teammitglieder · Git-Branching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wöchentliche Fortschrittsberichte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Risikoliste mit 8 Risiken laufend gepflegt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492240" y="3703320"/>
            <a:ext cx="5074920" cy="1783080"/>
          </a:xfrm>
          <a:prstGeom prst="rect">
            <a:avLst/>
          </a:prstGeom>
          <a:solidFill>
            <a:srgbClr val="C5394A"/>
          </a:solidFill>
          <a:ln/>
          <a:effectLst>
            <a:outerShdw blurRad="1016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675120" y="3858768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7292" y="3950940"/>
            <a:ext cx="199705" cy="19970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178040" y="385876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Erkenntnisse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720840" y="4343400"/>
            <a:ext cx="4709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Frühe Absprachen sparen spätere Nacharbeit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Automatisierung von Beginn an zahlt sich aus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Klare Struktur ermöglicht paralleles Arbeiten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48640" y="53492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Detaillierte Stunden je Person / Disziplin / Phase siehe Handout.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LIVE-DEMO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 LIVE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Live-Demo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955280" y="1645920"/>
            <a:ext cx="3657600" cy="3657600"/>
          </a:xfrm>
          <a:prstGeom prst="ellipse">
            <a:avLst/>
          </a:prstGeom>
          <a:solidFill>
            <a:srgbClr val="F8EAEC"/>
          </a:solidFill>
          <a:ln/>
        </p:spPr>
      </p:sp>
      <p:sp>
        <p:nvSpPr>
          <p:cNvPr id="10" name="Shape 8"/>
          <p:cNvSpPr/>
          <p:nvPr/>
        </p:nvSpPr>
        <p:spPr>
          <a:xfrm>
            <a:off x="9098280" y="2788920"/>
            <a:ext cx="1371600" cy="137160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7464" y="3118104"/>
            <a:ext cx="713232" cy="71323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955280" y="4297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E48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./start.sh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955280" y="4754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Logik + Oberfläche in einem Befehl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1801368"/>
            <a:ext cx="566928" cy="566928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703" y="1937431"/>
            <a:ext cx="294803" cy="29480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25880" y="1746504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 Registrierung &amp; Login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1325880" y="2075688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Konto anlegen und einsteigen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2587752"/>
            <a:ext cx="566928" cy="566928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703" y="2723815"/>
            <a:ext cx="294803" cy="29480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25880" y="2532888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 Beitrag erstellen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325880" y="2862072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+ Bild – sofort im Feed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48640" y="3374136"/>
            <a:ext cx="566928" cy="566928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703" y="3510199"/>
            <a:ext cx="294803" cy="29480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325880" y="3319272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 Like &amp; Kommentar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1325880" y="3648456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Reaktionen in Echtzeit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48640" y="4160520"/>
            <a:ext cx="566928" cy="566928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703" y="4296583"/>
            <a:ext cx="294803" cy="294803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25880" y="4105656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 Folgen &amp; Feed-Tabs</a:t>
            </a:r>
            <a:endParaRPr lang="en-US" sz="1600" dirty="0"/>
          </a:p>
        </p:txBody>
      </p:sp>
      <p:sp>
        <p:nvSpPr>
          <p:cNvPr id="29" name="Text 22"/>
          <p:cNvSpPr/>
          <p:nvPr/>
        </p:nvSpPr>
        <p:spPr>
          <a:xfrm>
            <a:off x="1325880" y="4434840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Gefolgte-Feed gezielt anzeigen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703" y="5082967"/>
            <a:ext cx="294803" cy="29480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325880" y="4892040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 Profil &amp; Bio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1325880" y="5221224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Profilbild und Bio bearbeiten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39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E2C3A"/>
          </a:solidFill>
          <a:ln/>
        </p:spPr>
      </p:sp>
      <p:sp>
        <p:nvSpPr>
          <p:cNvPr id="3" name="Shape 1"/>
          <p:cNvSpPr/>
          <p:nvPr/>
        </p:nvSpPr>
        <p:spPr>
          <a:xfrm>
            <a:off x="8860536" y="2020824"/>
            <a:ext cx="987552" cy="0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0536" y="2020824"/>
            <a:ext cx="1097280" cy="713232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8088" y="1362456"/>
            <a:ext cx="1152144" cy="603504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57816" y="2734056"/>
            <a:ext cx="1042416" cy="0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57816" y="2734056"/>
            <a:ext cx="768096" cy="493776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00232" y="1965960"/>
            <a:ext cx="822960" cy="658368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725912" y="3227832"/>
            <a:ext cx="1097280" cy="0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0" y="1938528"/>
            <a:ext cx="237744" cy="237744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11" name="Shape 9"/>
          <p:cNvSpPr/>
          <p:nvPr/>
        </p:nvSpPr>
        <p:spPr>
          <a:xfrm>
            <a:off x="9765792" y="1280160"/>
            <a:ext cx="182880" cy="182880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875520" y="2651760"/>
            <a:ext cx="201168" cy="201168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17936" y="1883664"/>
            <a:ext cx="274320" cy="274320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43616" y="3145536"/>
            <a:ext cx="164592" cy="164592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40896" y="2542032"/>
            <a:ext cx="219456" cy="219456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16" name="Shape 14"/>
          <p:cNvSpPr/>
          <p:nvPr/>
        </p:nvSpPr>
        <p:spPr>
          <a:xfrm>
            <a:off x="9500616" y="4782312"/>
            <a:ext cx="740664" cy="0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500616" y="4782312"/>
            <a:ext cx="822960" cy="534924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41280" y="4288536"/>
            <a:ext cx="864108" cy="452628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23576" y="5317236"/>
            <a:ext cx="781812" cy="0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23576" y="5317236"/>
            <a:ext cx="576072" cy="370332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105388" y="4741164"/>
            <a:ext cx="617220" cy="493776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899648" y="5687568"/>
            <a:ext cx="822960" cy="0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0" y="4700016"/>
            <a:ext cx="237744" cy="237744"/>
          </a:xfrm>
          <a:prstGeom prst="ellipse">
            <a:avLst/>
          </a:prstGeom>
          <a:solidFill>
            <a:srgbClr val="F0C2C6"/>
          </a:solidFill>
          <a:ln/>
        </p:spPr>
      </p:sp>
      <p:sp>
        <p:nvSpPr>
          <p:cNvPr id="24" name="Shape 22"/>
          <p:cNvSpPr/>
          <p:nvPr/>
        </p:nvSpPr>
        <p:spPr>
          <a:xfrm>
            <a:off x="10158984" y="4206240"/>
            <a:ext cx="182880" cy="182880"/>
          </a:xfrm>
          <a:prstGeom prst="ellipse">
            <a:avLst/>
          </a:prstGeom>
          <a:solidFill>
            <a:srgbClr val="F0C2C6"/>
          </a:solidFill>
          <a:ln/>
        </p:spPr>
      </p:sp>
      <p:sp>
        <p:nvSpPr>
          <p:cNvPr id="25" name="Shape 23"/>
          <p:cNvSpPr/>
          <p:nvPr/>
        </p:nvSpPr>
        <p:spPr>
          <a:xfrm>
            <a:off x="10241280" y="5234940"/>
            <a:ext cx="201168" cy="201168"/>
          </a:xfrm>
          <a:prstGeom prst="ellipse">
            <a:avLst/>
          </a:prstGeom>
          <a:solidFill>
            <a:srgbClr val="F0C2C6"/>
          </a:solidFill>
          <a:ln/>
        </p:spPr>
      </p:sp>
      <p:sp>
        <p:nvSpPr>
          <p:cNvPr id="26" name="Shape 24"/>
          <p:cNvSpPr/>
          <p:nvPr/>
        </p:nvSpPr>
        <p:spPr>
          <a:xfrm>
            <a:off x="11023092" y="4658868"/>
            <a:ext cx="274320" cy="274320"/>
          </a:xfrm>
          <a:prstGeom prst="ellipse">
            <a:avLst/>
          </a:prstGeom>
          <a:solidFill>
            <a:srgbClr val="F0C2C6"/>
          </a:solidFill>
          <a:ln/>
        </p:spPr>
      </p:sp>
      <p:sp>
        <p:nvSpPr>
          <p:cNvPr id="27" name="Shape 25"/>
          <p:cNvSpPr/>
          <p:nvPr/>
        </p:nvSpPr>
        <p:spPr>
          <a:xfrm>
            <a:off x="10817352" y="5605272"/>
            <a:ext cx="164592" cy="164592"/>
          </a:xfrm>
          <a:prstGeom prst="ellipse">
            <a:avLst/>
          </a:prstGeom>
          <a:solidFill>
            <a:srgbClr val="F0C2C6"/>
          </a:solidFill>
          <a:ln/>
        </p:spPr>
      </p:sp>
      <p:sp>
        <p:nvSpPr>
          <p:cNvPr id="28" name="Shape 26"/>
          <p:cNvSpPr/>
          <p:nvPr/>
        </p:nvSpPr>
        <p:spPr>
          <a:xfrm>
            <a:off x="11640312" y="5152644"/>
            <a:ext cx="219456" cy="219456"/>
          </a:xfrm>
          <a:prstGeom prst="ellipse">
            <a:avLst/>
          </a:prstGeom>
          <a:solidFill>
            <a:srgbClr val="F0C2C6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2148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300" dirty="0">
                <a:solidFill>
                  <a:srgbClr val="F8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31520" y="256032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Fragen?</a:t>
            </a:r>
            <a:endParaRPr lang="en-US" sz="6800" dirty="0"/>
          </a:p>
        </p:txBody>
      </p:sp>
      <p:sp>
        <p:nvSpPr>
          <p:cNvPr id="31" name="Shape 29"/>
          <p:cNvSpPr/>
          <p:nvPr/>
        </p:nvSpPr>
        <p:spPr>
          <a:xfrm>
            <a:off x="822960" y="3931920"/>
            <a:ext cx="1188720" cy="54864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251960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Team Max · Sebastiano · Ali · Johannes · TINF24B4 · DHBW Karlsruhe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Breitbild</PresentationFormat>
  <Paragraphs>0</Paragraphs>
  <Slides>16</Slides>
  <Notes>16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17" baseType="lpstr"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DualNetworking – Abschlusspräsentation (v2)</dc:title>
  <dc:subject>PptxGenJS Presentation</dc:subject>
  <dc:creator>Team DualNet · TINF24B4</dc:creator>
  <cp:lastModifiedBy>Team DualNet · TINF24B4</cp:lastModifiedBy>
  <cp:revision>20</cp:revision>
  <dcterms:created xsi:type="dcterms:W3CDTF">2026-06-12T10:26:10Z</dcterms:created>
  <dcterms:modified xsi:type="dcterms:W3CDTF">2026-06-17T19:38:56Z</dcterms:modified>
</cp:coreProperties>
</file>