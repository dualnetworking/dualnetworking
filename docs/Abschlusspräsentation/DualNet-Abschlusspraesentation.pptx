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C53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2D34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Max</c:v>
                </c:pt>
                <c:pt idx="1">
                  <c:v>Johannes</c:v>
                </c:pt>
                <c:pt idx="2">
                  <c:v>Sebastiano</c:v>
                </c:pt>
                <c:pt idx="3">
                  <c:v>Ali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12</c:v>
                </c:pt>
                <c:pt idx="2">
                  <c:v>10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A9-4568-981A-13A632B62F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D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7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7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FE2B1-7DD4-484D-B491-7F5E59DD1992}" type="datetimeFigureOut">
              <a:t>10.07.26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26DEE-4C85-4866-B375-68EE82F4C28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857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Umfang</a:t>
            </a:r>
            <a:r>
              <a:rPr lang="en-US" dirty="0"/>
              <a:t>: </a:t>
            </a:r>
            <a:endParaRPr lang="de-DE" dirty="0"/>
          </a:p>
          <a:p>
            <a:r>
              <a:rPr lang="en-US" dirty="0"/>
              <a:t>o </a:t>
            </a:r>
            <a:r>
              <a:rPr lang="en-US" dirty="0" err="1"/>
              <a:t>Projektziel</a:t>
            </a:r>
            <a:r>
              <a:rPr lang="en-US" dirty="0"/>
              <a:t>/Vision </a:t>
            </a:r>
            <a:endParaRPr lang="de-DE" dirty="0" err="1"/>
          </a:p>
          <a:p>
            <a:r>
              <a:rPr lang="en-US" dirty="0"/>
              <a:t>o </a:t>
            </a:r>
            <a:r>
              <a:rPr lang="en-US" dirty="0" err="1"/>
              <a:t>Architekturentscheidungen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Begründungen</a:t>
            </a:r>
            <a:r>
              <a:rPr lang="en-US" dirty="0"/>
              <a:t> </a:t>
            </a:r>
            <a:endParaRPr lang="de-DE"/>
          </a:p>
          <a:p>
            <a:r>
              <a:rPr lang="en-US" dirty="0"/>
              <a:t>o </a:t>
            </a:r>
            <a:r>
              <a:rPr lang="en-US" dirty="0" err="1"/>
              <a:t>Angewandte</a:t>
            </a:r>
            <a:r>
              <a:rPr lang="en-US" dirty="0"/>
              <a:t> </a:t>
            </a:r>
            <a:r>
              <a:rPr lang="en-US" dirty="0" err="1"/>
              <a:t>Entwicklungsmuster</a:t>
            </a:r>
            <a:r>
              <a:rPr lang="en-US" dirty="0"/>
              <a:t> (design patterns) und/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Entwicklungsplattformen</a:t>
            </a:r>
            <a:r>
              <a:rPr lang="en-US" dirty="0"/>
              <a:t>, </a:t>
            </a:r>
            <a:r>
              <a:rPr lang="en-US" dirty="0" err="1"/>
              <a:t>Bibliotheken</a:t>
            </a:r>
            <a:r>
              <a:rPr lang="en-US" dirty="0"/>
              <a:t> -&gt; </a:t>
            </a:r>
            <a:r>
              <a:rPr lang="en-US" dirty="0" err="1"/>
              <a:t>Zusammenfassung</a:t>
            </a:r>
            <a:r>
              <a:rPr lang="en-US" dirty="0"/>
              <a:t> </a:t>
            </a:r>
            <a:r>
              <a:rPr lang="en-US" dirty="0" err="1"/>
              <a:t>Ihres</a:t>
            </a:r>
            <a:r>
              <a:rPr lang="en-US" dirty="0"/>
              <a:t> </a:t>
            </a:r>
            <a:r>
              <a:rPr lang="en-US" dirty="0" err="1"/>
              <a:t>TechStacks</a:t>
            </a:r>
            <a:r>
              <a:rPr lang="en-US" dirty="0"/>
              <a:t> </a:t>
            </a:r>
            <a:endParaRPr lang="de-DE"/>
          </a:p>
          <a:p>
            <a:r>
              <a:rPr lang="en-US"/>
              <a:t>o Qualitätssicherung, z.B. Testabdeckung </a:t>
            </a:r>
            <a:endParaRPr lang="de-DE"/>
          </a:p>
          <a:p>
            <a:r>
              <a:rPr lang="en-US" dirty="0"/>
              <a:t>o CI/CD Setup o Live-Demo </a:t>
            </a:r>
            <a:endParaRPr lang="de-DE" dirty="0"/>
          </a:p>
          <a:p>
            <a:r>
              <a:rPr lang="en-US" dirty="0"/>
              <a:t>o </a:t>
            </a:r>
            <a:r>
              <a:rPr lang="en-US" dirty="0" err="1"/>
              <a:t>Fakten</a:t>
            </a:r>
            <a:r>
              <a:rPr lang="en-US" dirty="0"/>
              <a:t> und </a:t>
            </a:r>
            <a:r>
              <a:rPr lang="en-US" dirty="0" err="1"/>
              <a:t>gewonnene</a:t>
            </a:r>
            <a:r>
              <a:rPr lang="en-US" dirty="0"/>
              <a:t> </a:t>
            </a:r>
            <a:r>
              <a:rPr lang="en-US" dirty="0" err="1"/>
              <a:t>Erkenntnisse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Projektmanagement</a:t>
            </a:r>
            <a:endParaRPr lang="de-DE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Fakten</a:t>
            </a:r>
            <a:r>
              <a:rPr lang="en-US" dirty="0"/>
              <a:t> und </a:t>
            </a:r>
            <a:r>
              <a:rPr lang="en-US" dirty="0" err="1"/>
              <a:t>gewonnene</a:t>
            </a:r>
            <a:r>
              <a:rPr lang="en-US" dirty="0"/>
              <a:t> </a:t>
            </a:r>
            <a:r>
              <a:rPr lang="en-US" dirty="0" err="1"/>
              <a:t>Erkenntnisse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Projektmanagement</a:t>
            </a:r>
            <a:endParaRPr lang="de-DE" dirty="0" err="1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321040" y="0"/>
            <a:ext cx="73152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951976" y="2231136"/>
            <a:ext cx="102870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951976" y="2231136"/>
            <a:ext cx="1143000" cy="7429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9980676" y="1545336"/>
            <a:ext cx="1200150" cy="6286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094976" y="2974086"/>
            <a:ext cx="108585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10094976" y="2974086"/>
            <a:ext cx="800100" cy="5143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11180826" y="2173986"/>
            <a:ext cx="857250" cy="68580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0895076" y="3488436"/>
            <a:ext cx="114300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8869680" y="2148840"/>
            <a:ext cx="237744" cy="237744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9898380" y="1463040"/>
            <a:ext cx="182880" cy="18288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10012680" y="2891790"/>
            <a:ext cx="201168" cy="201168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11098530" y="2091690"/>
            <a:ext cx="274320" cy="27432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10812780" y="3406140"/>
            <a:ext cx="164592" cy="164592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11955780" y="2777490"/>
            <a:ext cx="219456" cy="219456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9317736" y="4626864"/>
            <a:ext cx="781812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9317736" y="4626864"/>
            <a:ext cx="868680" cy="564642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10099548" y="4105656"/>
            <a:ext cx="912114" cy="477774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10186416" y="5191506"/>
            <a:ext cx="825246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0186416" y="5191506"/>
            <a:ext cx="608076" cy="390906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11011662" y="4583430"/>
            <a:ext cx="651510" cy="521208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10794492" y="5582412"/>
            <a:ext cx="868680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9235440" y="4544568"/>
            <a:ext cx="237744" cy="237744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10017252" y="4023360"/>
            <a:ext cx="182880" cy="18288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10104120" y="5109210"/>
            <a:ext cx="201168" cy="201168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10929366" y="4501134"/>
            <a:ext cx="274320" cy="27432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10712196" y="5500116"/>
            <a:ext cx="164592" cy="164592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11580876" y="5022342"/>
            <a:ext cx="219456" cy="219456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8321040" y="585216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DUALNET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· SOFTWARE ENGINEERING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19202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DualNetworking</a:t>
            </a:r>
            <a:endParaRPr lang="en-US" sz="5800" dirty="0"/>
          </a:p>
        </p:txBody>
      </p:sp>
      <p:sp>
        <p:nvSpPr>
          <p:cNvPr id="34" name="Text 32"/>
          <p:cNvSpPr/>
          <p:nvPr/>
        </p:nvSpPr>
        <p:spPr>
          <a:xfrm>
            <a:off x="731520" y="30632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eigenes soziales Netzwerk – vom ersten Konzept bis zur fertigen, automatisch getesteten Anwendung.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31520" y="4160520"/>
            <a:ext cx="457200" cy="4572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· Sebastiano · Ali · Johannes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Kurs:  </a:t>
            </a: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TINF24B4 · DHBW Karlsruhe · 2025/2026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Sie heute erwartet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868680" y="2066544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198218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11226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Idee &amp; Vision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00200" y="2514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DualNet und wofür?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629400" y="2066544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4" y="2198218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60920" y="211226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App in Aktion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360920" y="2514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 &amp; Nutzung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191256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0"/>
          <p:cNvSpPr/>
          <p:nvPr/>
        </p:nvSpPr>
        <p:spPr>
          <a:xfrm>
            <a:off x="548640" y="3191256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1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369783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0020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600200" y="3611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 &amp; Technik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60020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aufgebaut ist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309360" y="3191256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6309360" y="3191256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7"/>
          <p:cNvSpPr/>
          <p:nvPr/>
        </p:nvSpPr>
        <p:spPr>
          <a:xfrm>
            <a:off x="6629400" y="3566160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074" y="3697834"/>
            <a:ext cx="285293" cy="28529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6092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360920" y="3611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 &amp; Tests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736092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&amp; Stabilität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48640" y="4690872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8" name="Shape 32"/>
          <p:cNvSpPr/>
          <p:nvPr/>
        </p:nvSpPr>
        <p:spPr>
          <a:xfrm>
            <a:off x="548640" y="4690872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3"/>
          <p:cNvSpPr/>
          <p:nvPr/>
        </p:nvSpPr>
        <p:spPr>
          <a:xfrm>
            <a:off x="868680" y="5065776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4" y="5197450"/>
            <a:ext cx="285293" cy="285293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600200" y="4855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1600200" y="51114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Automatisierung</a:t>
            </a:r>
            <a:endParaRPr lang="en-US" sz="1700" dirty="0"/>
          </a:p>
        </p:txBody>
      </p:sp>
      <p:sp>
        <p:nvSpPr>
          <p:cNvPr id="43" name="Text 36"/>
          <p:cNvSpPr/>
          <p:nvPr/>
        </p:nvSpPr>
        <p:spPr>
          <a:xfrm>
            <a:off x="1600200" y="5513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 &amp; CI/CD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6309360" y="4690872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5" name="Shape 38"/>
          <p:cNvSpPr/>
          <p:nvPr/>
        </p:nvSpPr>
        <p:spPr>
          <a:xfrm>
            <a:off x="6309360" y="4690872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6" name="Shape 39"/>
          <p:cNvSpPr/>
          <p:nvPr/>
        </p:nvSpPr>
        <p:spPr>
          <a:xfrm>
            <a:off x="6629400" y="5065776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074" y="5197450"/>
            <a:ext cx="285293" cy="28529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360920" y="4855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7360920" y="51114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Live-Demo</a:t>
            </a:r>
            <a:endParaRPr lang="en-US" sz="1700" dirty="0"/>
          </a:p>
        </p:txBody>
      </p:sp>
      <p:sp>
        <p:nvSpPr>
          <p:cNvPr id="50" name="Text 42"/>
          <p:cNvSpPr/>
          <p:nvPr/>
        </p:nvSpPr>
        <p:spPr>
          <a:xfrm>
            <a:off x="7360920" y="5513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 &amp; Vorführung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EINFACH ERKLÄRT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DualNetworking?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6309360" cy="3749040"/>
          </a:xfrm>
          <a:prstGeom prst="rect">
            <a:avLst/>
          </a:prstGeom>
          <a:solidFill>
            <a:srgbClr val="F8EAE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E2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eigenes kleines soziales Netzwerk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von Instagram, X oder Facebook bekannt – nur von uns selbst gebaut. Nutzer melden sich an, veröffentlichen Beiträge, folgen einander und tauschen sich über Likes und Kommentare aus.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39112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2039112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9544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209544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9976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379976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0408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5550408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Kommentieren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„Von der Idee bis zur lauffähigen App – komplett selbst entwickelt.“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132320" y="1600200"/>
            <a:ext cx="4526280" cy="3749040"/>
          </a:xfrm>
          <a:prstGeom prst="rect">
            <a:avLst/>
          </a:prstGeom>
          <a:solidFill>
            <a:srgbClr val="3E4856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3609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verbinden sich Menschen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63256" y="3291840"/>
            <a:ext cx="1110996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7763256" y="3291840"/>
            <a:ext cx="1234440" cy="802386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8874252" y="2551176"/>
            <a:ext cx="1296162" cy="678942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8997696" y="4094226"/>
            <a:ext cx="1172718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8997696" y="4094226"/>
            <a:ext cx="864108" cy="555498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10170414" y="3230118"/>
            <a:ext cx="925830" cy="740664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9861804" y="4649724"/>
            <a:ext cx="1234440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7680960" y="3209544"/>
            <a:ext cx="237744" cy="237744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8791956" y="2468880"/>
            <a:ext cx="182880" cy="182880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915400" y="4011930"/>
            <a:ext cx="201168" cy="201168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10088118" y="3147822"/>
            <a:ext cx="274320" cy="274320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9779508" y="4567428"/>
            <a:ext cx="164592" cy="164592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11013948" y="3888486"/>
            <a:ext cx="219456" cy="219456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7726680" y="2743200"/>
            <a:ext cx="502920" cy="50292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863901"/>
            <a:ext cx="261518" cy="26151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10149840" y="4617720"/>
            <a:ext cx="502920" cy="50292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541" y="4738421"/>
            <a:ext cx="261518" cy="26151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905256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3355848"/>
            <a:ext cx="237744" cy="23774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36092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· Follower · Reaktionen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IN AKTION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man mit DualNet tun kann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804672" y="1938528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8" y="2109704"/>
            <a:ext cx="370881" cy="370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Registrieren &amp; Login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Sicheres Konto mit Passwort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47288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3447288" y="1645920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3703320" y="1938528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496" y="2109704"/>
            <a:ext cx="370881" cy="3708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75888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Beiträge posten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75888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und optional ein Bild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45936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8"/>
          <p:cNvSpPr/>
          <p:nvPr/>
        </p:nvSpPr>
        <p:spPr>
          <a:xfrm>
            <a:off x="6345936" y="1645920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19"/>
          <p:cNvSpPr/>
          <p:nvPr/>
        </p:nvSpPr>
        <p:spPr>
          <a:xfrm>
            <a:off x="6601968" y="1938528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144" y="2109704"/>
            <a:ext cx="370881" cy="37088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74536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74536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mit einem Klick mögen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244584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3"/>
          <p:cNvSpPr/>
          <p:nvPr/>
        </p:nvSpPr>
        <p:spPr>
          <a:xfrm>
            <a:off x="9244584" y="1645920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4"/>
          <p:cNvSpPr/>
          <p:nvPr/>
        </p:nvSpPr>
        <p:spPr>
          <a:xfrm>
            <a:off x="9500616" y="1938528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792" y="2109704"/>
            <a:ext cx="370881" cy="37088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73184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Kommentieren &amp; Antworten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473184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in Threads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4" name="Shape 28"/>
          <p:cNvSpPr/>
          <p:nvPr/>
        </p:nvSpPr>
        <p:spPr>
          <a:xfrm>
            <a:off x="548640" y="3602736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Shape 29"/>
          <p:cNvSpPr/>
          <p:nvPr/>
        </p:nvSpPr>
        <p:spPr>
          <a:xfrm>
            <a:off x="804672" y="3895344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848" y="4066520"/>
            <a:ext cx="370881" cy="37088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7240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Folgen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777240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 Nutzern folgen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447288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Shape 33"/>
          <p:cNvSpPr/>
          <p:nvPr/>
        </p:nvSpPr>
        <p:spPr>
          <a:xfrm>
            <a:off x="3447288" y="3602736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4"/>
          <p:cNvSpPr/>
          <p:nvPr/>
        </p:nvSpPr>
        <p:spPr>
          <a:xfrm>
            <a:off x="3703320" y="3895344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4496" y="4066520"/>
            <a:ext cx="370881" cy="37088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675888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Feed-Tabs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3675888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dich · Gefolgte · Eigene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345936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6" name="Shape 38"/>
          <p:cNvSpPr/>
          <p:nvPr/>
        </p:nvSpPr>
        <p:spPr>
          <a:xfrm>
            <a:off x="6345936" y="3602736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7" name="Shape 39"/>
          <p:cNvSpPr/>
          <p:nvPr/>
        </p:nvSpPr>
        <p:spPr>
          <a:xfrm>
            <a:off x="6601968" y="3895344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144" y="4066520"/>
            <a:ext cx="370881" cy="37088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574536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&amp; Bio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6574536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Profilbild und Beschreibung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244584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2" name="Shape 43"/>
          <p:cNvSpPr/>
          <p:nvPr/>
        </p:nvSpPr>
        <p:spPr>
          <a:xfrm>
            <a:off x="9244584" y="3602736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3" name="Shape 44"/>
          <p:cNvSpPr/>
          <p:nvPr/>
        </p:nvSpPr>
        <p:spPr>
          <a:xfrm>
            <a:off x="9500616" y="3895344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1792" y="4066520"/>
            <a:ext cx="370881" cy="370881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473184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Bilder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9473184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in Posts &amp; Profil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Projektziel &amp; Vision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6492240" cy="182880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5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5532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offene, minimalistische Social-Media-Plattform, die zeigt, dass ein vollständiger Technologie-Stack – von der Idee bis zur automatischen Auslieferung – in einem Semester umsetzbar ist.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4370832" cy="8412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7424928" y="1792224"/>
            <a:ext cx="457200" cy="45720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190195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Für wen?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4672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 &amp; Hobby-Entwickler, die eine einfache, übersichtliche Plattform suchen.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69480" y="2560320"/>
            <a:ext cx="4370832" cy="8412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7424928" y="2752344"/>
            <a:ext cx="457200" cy="45720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86207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Ziel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046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Wesentliche eines sozialen Netzwerks sauber und vollständig umsetzen.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Vollständiger Entwicklungs-Lebenszyklus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0"/>
          <p:cNvSpPr/>
          <p:nvPr/>
        </p:nvSpPr>
        <p:spPr>
          <a:xfrm>
            <a:off x="548640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993392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2139696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3"/>
          <p:cNvSpPr/>
          <p:nvPr/>
        </p:nvSpPr>
        <p:spPr>
          <a:xfrm>
            <a:off x="2139696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84448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3730752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6"/>
          <p:cNvSpPr/>
          <p:nvPr/>
        </p:nvSpPr>
        <p:spPr>
          <a:xfrm>
            <a:off x="3730752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175504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5321808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29"/>
          <p:cNvSpPr/>
          <p:nvPr/>
        </p:nvSpPr>
        <p:spPr>
          <a:xfrm>
            <a:off x="5321808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Programmierung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766560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6912864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2"/>
          <p:cNvSpPr/>
          <p:nvPr/>
        </p:nvSpPr>
        <p:spPr>
          <a:xfrm>
            <a:off x="6912864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8357616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8503920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5"/>
          <p:cNvSpPr/>
          <p:nvPr/>
        </p:nvSpPr>
        <p:spPr>
          <a:xfrm>
            <a:off x="8503920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948672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10094976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38"/>
          <p:cNvSpPr/>
          <p:nvPr/>
        </p:nvSpPr>
        <p:spPr>
          <a:xfrm>
            <a:off x="10094976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Auslieferung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FÜR SCHRITT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funktioniert die Nutzung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1737360" y="2697480"/>
            <a:ext cx="8503920" cy="0"/>
          </a:xfrm>
          <a:prstGeom prst="line">
            <a:avLst/>
          </a:prstGeom>
          <a:noFill/>
          <a:ln w="25400">
            <a:solidFill>
              <a:srgbClr val="E7E5E8"/>
            </a:solidFill>
            <a:prstDash val="dash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440180" y="2194560"/>
            <a:ext cx="1005840" cy="100584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82" y="2435962"/>
            <a:ext cx="523037" cy="52303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107692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210769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640080" y="3474720"/>
            <a:ext cx="2606040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8229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Konto erstellen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Sekunden registrieren und einloggen.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93108" y="2194560"/>
            <a:ext cx="1005840" cy="100584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510" y="2435962"/>
            <a:ext cx="523037" cy="52303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960620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485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7"/>
          <p:cNvSpPr/>
          <p:nvPr/>
        </p:nvSpPr>
        <p:spPr>
          <a:xfrm>
            <a:off x="49606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93008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19"/>
          <p:cNvSpPr/>
          <p:nvPr/>
        </p:nvSpPr>
        <p:spPr>
          <a:xfrm>
            <a:off x="3493008" y="3474720"/>
            <a:ext cx="2606040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0"/>
          <p:cNvSpPr/>
          <p:nvPr/>
        </p:nvSpPr>
        <p:spPr>
          <a:xfrm>
            <a:off x="3675888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Beitrag teilen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721608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Post mit Text oder Bild veröffentlichen.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146036" y="2194560"/>
            <a:ext cx="1005840" cy="100584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438" y="2435962"/>
            <a:ext cx="523037" cy="52303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813548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4"/>
          <p:cNvSpPr/>
          <p:nvPr/>
        </p:nvSpPr>
        <p:spPr>
          <a:xfrm>
            <a:off x="781354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345936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6345936" y="3474720"/>
            <a:ext cx="2606040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27"/>
          <p:cNvSpPr/>
          <p:nvPr/>
        </p:nvSpPr>
        <p:spPr>
          <a:xfrm>
            <a:off x="652881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Vernetzen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574536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 folgen und ihren Feed sehen.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998964" y="2194560"/>
            <a:ext cx="1005840" cy="100584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366" y="2435962"/>
            <a:ext cx="523037" cy="523037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10666476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485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1"/>
          <p:cNvSpPr/>
          <p:nvPr/>
        </p:nvSpPr>
        <p:spPr>
          <a:xfrm>
            <a:off x="1066647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9198864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9" name="Shape 33"/>
          <p:cNvSpPr/>
          <p:nvPr/>
        </p:nvSpPr>
        <p:spPr>
          <a:xfrm>
            <a:off x="9198864" y="3474720"/>
            <a:ext cx="2606040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Text 34"/>
          <p:cNvSpPr/>
          <p:nvPr/>
        </p:nvSpPr>
        <p:spPr>
          <a:xfrm>
            <a:off x="9381744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Interagieren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9427464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Liken, kommentieren, antworten.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DREI BAUSTEINEN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die App aufgebaut ist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3154680" cy="128016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190652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754" y="2142622"/>
            <a:ext cx="323332" cy="3233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Oberfläche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Nutzer sieht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Router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13048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04488" y="3291840"/>
            <a:ext cx="694944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/>
          <p:nvPr/>
        </p:nvSpPr>
        <p:spPr>
          <a:xfrm>
            <a:off x="3813048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erhält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0916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7"/>
          <p:cNvSpPr/>
          <p:nvPr/>
        </p:nvSpPr>
        <p:spPr>
          <a:xfrm>
            <a:off x="4709160" y="1828800"/>
            <a:ext cx="3154680" cy="1280160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8"/>
          <p:cNvSpPr/>
          <p:nvPr/>
        </p:nvSpPr>
        <p:spPr>
          <a:xfrm>
            <a:off x="597560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34" y="2142622"/>
            <a:ext cx="323332" cy="3233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0916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Logik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89204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Verarbeitet alle Anfragen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21208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Java 21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JWT-Login · REST-API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882128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973568" y="3291840"/>
            <a:ext cx="694944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4"/>
          <p:cNvSpPr/>
          <p:nvPr/>
        </p:nvSpPr>
        <p:spPr>
          <a:xfrm>
            <a:off x="7882128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erhält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77824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6"/>
          <p:cNvSpPr/>
          <p:nvPr/>
        </p:nvSpPr>
        <p:spPr>
          <a:xfrm>
            <a:off x="8778240" y="1828800"/>
            <a:ext cx="3154680" cy="128016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7"/>
          <p:cNvSpPr/>
          <p:nvPr/>
        </p:nvSpPr>
        <p:spPr>
          <a:xfrm>
            <a:off x="1004468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914" y="2142622"/>
            <a:ext cx="323332" cy="3233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7824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Speicher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896112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Bewahrt alle Daten auf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928116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 (Docker)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Datensammlungen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Shape 32"/>
          <p:cNvSpPr/>
          <p:nvPr/>
        </p:nvSpPr>
        <p:spPr>
          <a:xfrm>
            <a:off x="868680" y="5001768"/>
            <a:ext cx="420624" cy="420624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5102718"/>
            <a:ext cx="218724" cy="21872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17320" y="4800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getrennte Bausteine  </a:t>
            </a:r>
            <a:r>
              <a:rPr lang="en-US" sz="13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jeder Teil hat eine Aufgabe und lässt sich einzeln testen oder austauschen. Das hält die App wartbar.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BEGRÜNDETE ENTSCHEIDUNGEN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diese Technik?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2296" cy="178308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346350"/>
            <a:ext cx="427939" cy="4279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7452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74520" y="22037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TypeScript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874520" y="26243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Typsicherheit, große Community, alle im Team mit JS-Basis.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82296" cy="1783080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5"/>
          <p:cNvSpPr/>
          <p:nvPr/>
        </p:nvSpPr>
        <p:spPr>
          <a:xfrm>
            <a:off x="6629400" y="2148840"/>
            <a:ext cx="822960" cy="82296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2346350"/>
            <a:ext cx="427939" cy="4279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3524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635240" y="22037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3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7635240" y="26243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Reifes Java-Ökosystem, klare Schichten, sichere Logik.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7490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0"/>
          <p:cNvSpPr/>
          <p:nvPr/>
        </p:nvSpPr>
        <p:spPr>
          <a:xfrm>
            <a:off x="548640" y="3749040"/>
            <a:ext cx="82296" cy="178308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1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440375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874520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874520" y="42611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874520" y="46817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 Kommentare sind dokumentartig – flexibel &amp; ohne Migrationen.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309360" y="37490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6309360" y="3749040"/>
            <a:ext cx="82296" cy="1783080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7"/>
          <p:cNvSpPr/>
          <p:nvPr/>
        </p:nvSpPr>
        <p:spPr>
          <a:xfrm>
            <a:off x="6629400" y="4206240"/>
            <a:ext cx="822960" cy="82296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910" y="4403750"/>
            <a:ext cx="427939" cy="42793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35240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635240" y="42611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JWT-Login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7635240" y="46817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ohne Server-Sitzung – einfach &amp; gut skalierbar.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 &amp; BIBLIOTHEKEN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Technologie-Stack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38724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Bereich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Technologie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Version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Oberfläche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 /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+ Spring Boot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3.3.4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(JJWT)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Infrastruktur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Automatisierung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Oberfläche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+ Testing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/ 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Codequalität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PMD Plugin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7635240" y="1691640"/>
            <a:ext cx="3931920" cy="1078992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7772400" y="173736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9144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Bausteine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· Logik · Daten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2916936"/>
            <a:ext cx="3931920" cy="1078992"/>
          </a:xfrm>
          <a:prstGeom prst="rect">
            <a:avLst/>
          </a:prstGeom>
          <a:solidFill>
            <a:srgbClr val="3E4856"/>
          </a:solidFill>
          <a:ln w="12700">
            <a:solidFill>
              <a:srgbClr val="3E4856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7772400" y="296265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14400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0" y="3465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Stack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35240" y="4142232"/>
            <a:ext cx="3931920" cy="1078992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/>
          <p:nvPr/>
        </p:nvSpPr>
        <p:spPr>
          <a:xfrm>
            <a:off x="7772400" y="4187952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14400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Datensammlungen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0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MongoDB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 &amp; WARTBAR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Aufbau-Muster &amp; Clean Code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Bewährte Muster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145182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0208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Schichten-Architektur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– Logik – Speicher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715768"/>
            <a:ext cx="365760" cy="36576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803550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2679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Repository-Muster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Standardisierter Datenzugriff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461918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/ Mapper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Daten / Antwort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4120286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9959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51560" y="4288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gekoppelte Bausteine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690872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4778654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6542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 · DRY · IOSP · SLA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051560" y="4946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Clean-Code-Prinzipien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355080" y="1645920"/>
            <a:ext cx="5212080" cy="3840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4"/>
          <p:cNvSpPr/>
          <p:nvPr/>
        </p:nvSpPr>
        <p:spPr>
          <a:xfrm>
            <a:off x="6355080" y="1645920"/>
            <a:ext cx="5212080" cy="640080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5"/>
          <p:cNvSpPr/>
          <p:nvPr/>
        </p:nvSpPr>
        <p:spPr>
          <a:xfrm>
            <a:off x="653796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42" y="187086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40880" y="1645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Refactoring (AB14)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629400" y="2514600"/>
            <a:ext cx="1005840" cy="100584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28"/>
          <p:cNvSpPr/>
          <p:nvPr/>
        </p:nvSpPr>
        <p:spPr>
          <a:xfrm>
            <a:off x="66294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600" dirty="0"/>
          </a:p>
        </p:txBody>
      </p:sp>
      <p:sp>
        <p:nvSpPr>
          <p:cNvPr id="37" name="Text 29"/>
          <p:cNvSpPr/>
          <p:nvPr/>
        </p:nvSpPr>
        <p:spPr>
          <a:xfrm>
            <a:off x="7818120" y="2651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 gefunden &amp; behoben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629400" y="365760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typisierte Rückgaben → klare DTOs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Logik → DRY-Refactoring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Gebrochene Kapselung behoben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Überladene Methoden aufgeteilt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Vermischte Ebenen (IOSP) getrennt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 Code entfernt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GEPRÜFT &amp; ABGESICHERT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Qualitätssicherung &amp; Tests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474720" cy="118872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Testfälle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474720" cy="1188720"/>
          </a:xfrm>
          <a:prstGeom prst="rect">
            <a:avLst/>
          </a:prstGeom>
          <a:solidFill>
            <a:srgbClr val="3E4856"/>
          </a:solidFill>
          <a:ln w="12700">
            <a:solidFill>
              <a:srgbClr val="3E4856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2519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25196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Test-Arten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118872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95528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95528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Unit/IT bestanden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344875"/>
            <a:ext cx="213970" cy="21397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3154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Logik-Tests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325880" y="3447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 Funktionen isoliert geprüft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1"/>
          <p:cNvSpPr/>
          <p:nvPr/>
        </p:nvSpPr>
        <p:spPr>
          <a:xfrm>
            <a:off x="731520" y="4160520"/>
            <a:ext cx="411480" cy="41148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4259275"/>
            <a:ext cx="213970" cy="21397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25880" y="40690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Oberflächen-Tests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325880" y="4361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&amp; Klicks getestet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48920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5"/>
          <p:cNvSpPr/>
          <p:nvPr/>
        </p:nvSpPr>
        <p:spPr>
          <a:xfrm>
            <a:off x="731520" y="50749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5173675"/>
            <a:ext cx="213970" cy="21397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49834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Zusammenspiel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1325880" y="5276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 Abläufe Ende-zu-Ende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26480" y="30632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29"/>
          <p:cNvSpPr/>
          <p:nvPr/>
        </p:nvSpPr>
        <p:spPr>
          <a:xfrm>
            <a:off x="6309360" y="3246120"/>
            <a:ext cx="411480" cy="41148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5" y="3344875"/>
            <a:ext cx="213970" cy="21397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3154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Schnelltests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903720" y="3447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Kernabläufe nach jedem Update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126480" y="39776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3"/>
          <p:cNvSpPr/>
          <p:nvPr/>
        </p:nvSpPr>
        <p:spPr>
          <a:xfrm>
            <a:off x="6309360" y="41605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5" y="4259275"/>
            <a:ext cx="213970" cy="21397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03720" y="40690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Sicherheit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6903720" y="4361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Login-Schutz &amp; manipulierte Zugriffe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&amp; STEUERN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Software-Metriken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212080" cy="214884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72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 (Albrecht)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 für den Funktionsumfang  ·  UFP 78 × VAF 0,92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553212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99522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1892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Code-Komplexität (PMD)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9360" y="25146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Messung im Build bei jedem Push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Schwachstellen erkannt &amp; verbessert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nach Refactoring deutlich gesenkt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Betrachtete Metrik-Familien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7"/>
          <p:cNvSpPr/>
          <p:nvPr/>
        </p:nvSpPr>
        <p:spPr>
          <a:xfrm>
            <a:off x="548640" y="4480560"/>
            <a:ext cx="2651760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8"/>
          <p:cNvSpPr/>
          <p:nvPr/>
        </p:nvSpPr>
        <p:spPr>
          <a:xfrm>
            <a:off x="731520" y="4736592"/>
            <a:ext cx="457200" cy="45720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4632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25880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Größe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325880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46704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2"/>
          <p:cNvSpPr/>
          <p:nvPr/>
        </p:nvSpPr>
        <p:spPr>
          <a:xfrm>
            <a:off x="3346704" y="4480560"/>
            <a:ext cx="2651760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3"/>
          <p:cNvSpPr/>
          <p:nvPr/>
        </p:nvSpPr>
        <p:spPr>
          <a:xfrm>
            <a:off x="3529584" y="4736592"/>
            <a:ext cx="457200" cy="45720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4846320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123944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4123944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 &amp; vollständig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44768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Shape 27"/>
          <p:cNvSpPr/>
          <p:nvPr/>
        </p:nvSpPr>
        <p:spPr>
          <a:xfrm>
            <a:off x="6144768" y="4480560"/>
            <a:ext cx="2651760" cy="6400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28"/>
          <p:cNvSpPr/>
          <p:nvPr/>
        </p:nvSpPr>
        <p:spPr>
          <a:xfrm>
            <a:off x="6327648" y="4736592"/>
            <a:ext cx="457200" cy="45720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846320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22008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Stabilität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6922008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ändert es sich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8942832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Shape 32"/>
          <p:cNvSpPr/>
          <p:nvPr/>
        </p:nvSpPr>
        <p:spPr>
          <a:xfrm>
            <a:off x="8942832" y="4480560"/>
            <a:ext cx="2651760" cy="6400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3"/>
          <p:cNvSpPr/>
          <p:nvPr/>
        </p:nvSpPr>
        <p:spPr>
          <a:xfrm>
            <a:off x="9125712" y="4736592"/>
            <a:ext cx="457200" cy="457200"/>
          </a:xfrm>
          <a:prstGeom prst="ellipse">
            <a:avLst/>
          </a:prstGeom>
          <a:solidFill>
            <a:srgbClr val="E8EA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846320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20072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Prozess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20072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Rückverfolgbarkeit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GETESTET &amp; GEBAUT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Auslieferung per Knopfdruck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Code-Änderung läuft automatisch der gesamte Prüf- und Bau-Prozess.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965960" cy="868680"/>
          </a:xfrm>
          <a:prstGeom prst="rect">
            <a:avLst/>
          </a:prstGeom>
          <a:solidFill>
            <a:srgbClr val="C5394A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822960" y="236829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2469246"/>
            <a:ext cx="218724" cy="2187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Änderung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42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2926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3108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910" y="2469246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Holen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928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6"/>
          <p:cNvSpPr/>
          <p:nvPr/>
        </p:nvSpPr>
        <p:spPr>
          <a:xfrm>
            <a:off x="5212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7"/>
          <p:cNvSpPr/>
          <p:nvPr/>
        </p:nvSpPr>
        <p:spPr>
          <a:xfrm>
            <a:off x="5394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910" y="2469246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97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Bauen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214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0"/>
          <p:cNvSpPr/>
          <p:nvPr/>
        </p:nvSpPr>
        <p:spPr>
          <a:xfrm>
            <a:off x="7498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1"/>
          <p:cNvSpPr/>
          <p:nvPr/>
        </p:nvSpPr>
        <p:spPr>
          <a:xfrm>
            <a:off x="7680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910" y="246924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83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Testen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00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0" name="Shape 24"/>
          <p:cNvSpPr/>
          <p:nvPr/>
        </p:nvSpPr>
        <p:spPr>
          <a:xfrm>
            <a:off x="9784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5"/>
          <p:cNvSpPr/>
          <p:nvPr/>
        </p:nvSpPr>
        <p:spPr>
          <a:xfrm>
            <a:off x="9966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910" y="2469246"/>
            <a:ext cx="218724" cy="2187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469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40080" y="3337560"/>
            <a:ext cx="530352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5" name="Shape 28"/>
          <p:cNvSpPr/>
          <p:nvPr/>
        </p:nvSpPr>
        <p:spPr>
          <a:xfrm>
            <a:off x="640080" y="3337560"/>
            <a:ext cx="5303520" cy="658368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29"/>
          <p:cNvSpPr/>
          <p:nvPr/>
        </p:nvSpPr>
        <p:spPr>
          <a:xfrm>
            <a:off x="841248" y="34838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20" y="3576036"/>
            <a:ext cx="199705" cy="19970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353312" y="3337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frontend-ci.yml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960120" y="420624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 installieren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Oberflächen-Tests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Produktiv-Build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6217920" y="3337560"/>
            <a:ext cx="530352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3"/>
          <p:cNvSpPr/>
          <p:nvPr/>
        </p:nvSpPr>
        <p:spPr>
          <a:xfrm>
            <a:off x="6217920" y="3337560"/>
            <a:ext cx="5303520" cy="658368"/>
          </a:xfrm>
          <a:prstGeom prst="rect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34"/>
          <p:cNvSpPr/>
          <p:nvPr/>
        </p:nvSpPr>
        <p:spPr>
          <a:xfrm>
            <a:off x="6419088" y="34838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1260" y="3576036"/>
            <a:ext cx="199705" cy="19970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31152" y="3337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backend-ci.yml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6537960" y="420624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(Temurin)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Maven-Build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Logik- &amp; Integrationstests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Qualitätsanalyse (PMD)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Projektmanagement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3E485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Beiträge</a:t>
            </a:r>
            <a:r>
              <a:rPr lang="en-US" sz="1400" b="1" dirty="0">
                <a:solidFill>
                  <a:srgbClr val="3E485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3E485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im</a:t>
            </a:r>
            <a:r>
              <a:rPr lang="en-US" sz="1400" b="1" dirty="0">
                <a:solidFill>
                  <a:srgbClr val="3E485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Team (Commits)</a:t>
            </a:r>
            <a:endParaRPr lang="en-US" sz="1400" dirty="0">
              <a:latin typeface="Trebuchet MS"/>
            </a:endParaRPr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888655809"/>
              </p:ext>
            </p:extLst>
          </p:nvPr>
        </p:nvGraphicFramePr>
        <p:xfrm>
          <a:off x="457200" y="19659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1965960"/>
            <a:ext cx="5074920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12" name="Shape 9"/>
          <p:cNvSpPr/>
          <p:nvPr/>
        </p:nvSpPr>
        <p:spPr>
          <a:xfrm>
            <a:off x="6675120" y="2121408"/>
            <a:ext cx="384048" cy="384048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292" y="2213580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Vorgehen &amp; Fakten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20840" y="2606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mit wöchentlichen Sprints (20 Wochen)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Commits (</a:t>
            </a:r>
            <a:r>
              <a:rPr lang="en-US" sz="1200" dirty="0" err="1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angepasst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4 Teammitglieder · Git-Branching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wöchentliche Fortschrittsberichte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Risikoliste mit 8 Risiken laufend gepflegt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3703320"/>
            <a:ext cx="5074920" cy="178308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6675120" y="385876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292" y="3950940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858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Erkenntnisse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20840" y="43434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 Absprachen sparen spätere Nacharbeit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von Beginn an zahlt sich aus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Struktur ermöglicht paralleles Arbeiten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Detaillierte Stunden je Person / Disziplin / Phase siehe Handout.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Live-Demo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955280" y="1645920"/>
            <a:ext cx="3657600" cy="3657600"/>
          </a:xfrm>
          <a:prstGeom prst="ellipse">
            <a:avLst/>
          </a:prstGeom>
          <a:solidFill>
            <a:srgbClr val="F8EA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9098280" y="2788920"/>
            <a:ext cx="1371600" cy="1371600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118104"/>
            <a:ext cx="713232" cy="7132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48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./start.sh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52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Logik + Oberfläche in einem Befehl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1801368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1937431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17465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Registrierung &amp; Login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25880" y="20756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anlegen und einsteigen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72381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53288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Beitrag erstellen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25880" y="286207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Bild – sofort im Feed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510199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31927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Like &amp; Kommentar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325880" y="36484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Reaktionen in Echtzeit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3E485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10565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Folgen &amp; Feed-Tabs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325880" y="44348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Gefolgte-Feed gezielt anzeigen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08296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4892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 Profil &amp; Bio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325880" y="522122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Profilbild und Bio bearbeiten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3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2C3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860536" y="2020824"/>
            <a:ext cx="987552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860536" y="2020824"/>
            <a:ext cx="1097280" cy="713232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9848088" y="1362456"/>
            <a:ext cx="1152144" cy="603504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9957816" y="2734056"/>
            <a:ext cx="1042416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9957816" y="2734056"/>
            <a:ext cx="768096" cy="493776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11000232" y="1965960"/>
            <a:ext cx="822960" cy="658368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10725912" y="3227832"/>
            <a:ext cx="1097280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8778240" y="1938528"/>
            <a:ext cx="237744" cy="237744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9765792" y="1280160"/>
            <a:ext cx="182880" cy="182880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9875520" y="2651760"/>
            <a:ext cx="201168" cy="201168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10917936" y="1883664"/>
            <a:ext cx="274320" cy="274320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10643616" y="3145536"/>
            <a:ext cx="164592" cy="164592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11740896" y="2542032"/>
            <a:ext cx="219456" cy="219456"/>
          </a:xfrm>
          <a:prstGeom prst="ellipse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9500616" y="4782312"/>
            <a:ext cx="740664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9500616" y="4782312"/>
            <a:ext cx="822960" cy="534924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10241280" y="4288536"/>
            <a:ext cx="864108" cy="452628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10323576" y="5317236"/>
            <a:ext cx="781812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10323576" y="5317236"/>
            <a:ext cx="576072" cy="370332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1105388" y="4741164"/>
            <a:ext cx="617220" cy="493776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10899648" y="5687568"/>
            <a:ext cx="822960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9418320" y="4700016"/>
            <a:ext cx="237744" cy="237744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10158984" y="4206240"/>
            <a:ext cx="182880" cy="182880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10241280" y="5234940"/>
            <a:ext cx="201168" cy="201168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11023092" y="4658868"/>
            <a:ext cx="274320" cy="274320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10817352" y="5605272"/>
            <a:ext cx="164592" cy="164592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11640312" y="5152644"/>
            <a:ext cx="219456" cy="219456"/>
          </a:xfrm>
          <a:prstGeom prst="ellipse">
            <a:avLst/>
          </a:prstGeom>
          <a:solidFill>
            <a:srgbClr val="F0C2C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25603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6800" dirty="0"/>
          </a:p>
        </p:txBody>
      </p:sp>
      <p:sp>
        <p:nvSpPr>
          <p:cNvPr id="31" name="Shape 29"/>
          <p:cNvSpPr/>
          <p:nvPr/>
        </p:nvSpPr>
        <p:spPr>
          <a:xfrm>
            <a:off x="822960" y="3931920"/>
            <a:ext cx="1188720" cy="54864"/>
          </a:xfrm>
          <a:prstGeom prst="rect">
            <a:avLst/>
          </a:prstGeom>
          <a:solidFill>
            <a:srgbClr val="E59AA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822960" y="42519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Team Max · Sebastiano · Ali · Johannes · TINF24B4 · DHBW Karlsruhe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1107</Words>
  <Application>Microsoft Macintosh PowerPoint</Application>
  <PresentationFormat>Widescreen</PresentationFormat>
  <Paragraphs>341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DualNetworking – Abschlusspräsentation (v2)</dc:title>
  <dc:subject>PptxGenJS Presentation</dc:subject>
  <dc:creator>Team DualNet · TINF24B4</dc:creator>
  <cp:lastModifiedBy>Ali Hamod</cp:lastModifiedBy>
  <cp:revision>21</cp:revision>
  <dcterms:created xsi:type="dcterms:W3CDTF">2026-06-12T10:26:10Z</dcterms:created>
  <dcterms:modified xsi:type="dcterms:W3CDTF">2026-07-10T18:54:24Z</dcterms:modified>
</cp:coreProperties>
</file>